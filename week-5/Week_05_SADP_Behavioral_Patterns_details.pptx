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4" r:id="rId11"/>
    <p:sldId id="265" r:id="rId12"/>
    <p:sldId id="266" r:id="rId13"/>
    <p:sldId id="282" r:id="rId14"/>
    <p:sldId id="267" r:id="rId15"/>
    <p:sldId id="268" r:id="rId16"/>
    <p:sldId id="269" r:id="rId17"/>
    <p:sldId id="283" r:id="rId18"/>
    <p:sldId id="270" r:id="rId19"/>
    <p:sldId id="271" r:id="rId20"/>
    <p:sldId id="284" r:id="rId21"/>
    <p:sldId id="272" r:id="rId22"/>
    <p:sldId id="273" r:id="rId23"/>
    <p:sldId id="274" r:id="rId24"/>
    <p:sldId id="285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82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72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0104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202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0" y="0"/>
            <a:ext cx="5486400" cy="1417320"/>
          </a:xfrm>
          <a:prstGeom prst="rect">
            <a:avLst/>
          </a:prstGeom>
          <a:solidFill>
            <a:srgbClr val="3C3F4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56032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201168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Behavioural Design Patterns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CSC 4273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1417320"/>
            <a:ext cx="9144000" cy="64008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1874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4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Dept. of Computer Science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24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of Science and Technology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2920" y="28803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Title: SOFTWARE ARCHITECTURE &amp; DESIGN PATTERN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892040"/>
          <a:ext cx="8138160" cy="76809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Lecturer No: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No: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Semester: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Summer 25-26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Lecturer: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MD. Al-Amin &lt;alamin@aiub.edu&gt;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Outline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What problem do behavioural patterns solve?</a:t>
            </a:r>
            <a:endParaRPr lang="en-US" sz="18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Strategy — swap algorithms at run time</a:t>
            </a:r>
            <a:endParaRPr lang="en-US" sz="18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Observer — event-driven, one-to-many communication</a:t>
            </a:r>
            <a:endParaRPr lang="en-US" sz="18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Command — encapsulate actions as objects (undo, queue, log)</a:t>
            </a:r>
            <a:endParaRPr lang="en-US" sz="18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Template Method — define the skeleton, vary the steps</a:t>
            </a:r>
            <a:endParaRPr lang="en-US" sz="18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State — behaviour follows the lifecycle; </a:t>
            </a:r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comparison &amp; trade-offs</a:t>
            </a:r>
            <a:endParaRPr lang="en-US" sz="18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Week-5 &amp; Part-1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PART 1 LEARNING GOALS — By the end of Part 1, you will be able to: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Explain what behavioural patterns govern — communication and responsibility.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Name the five behavioural patterns and state the intent of each in one sentence.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Implement the Strategy pattern to swap an algorithm at run time.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Implement the Observer pattern for one-to-many event notification.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Apply Strategy and Observer to UniRide with concrete TypeScript code.</a:t>
            </a:r>
            <a:endParaRPr lang="en-US" sz="15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PROJECT — UniRide: Week 5 Context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Weeks 1–4 gave UniRide its structure, object-creation, and composition patterns.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This week is about BEHAVIOUR — how objects communicate and who is responsible for what: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Strategy        — swap the matching SCORING algorithm at run time, per request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Observer        — fan ride-status changes out to many subscribers (apps, SMS, analytics)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Command         — cancel / refund as objects, with undo, queue, and an audit log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Template Method — a ride-processing skeleton whose steps vary by ride type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State           — the ride lifecycle, where allowed actions depend on the current state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Behavioural patterns are where UniRide gains run-time flexibility, clean event flow, and a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lifecycle that cannot enter an illegal state.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What Problem Do Behavioural Patterns Solve?</a:t>
            </a:r>
            <a:endParaRPr lang="en-US" sz="2500" dirty="0">
              <a:latin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298448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360" y="1298448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Strategy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9224" y="1737360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Define a family of algorithms, encapsulate each, make them interchangeable. (payment, compression, routing)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00984" y="1207008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392424" y="1298448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2F6DB5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392424" y="1298448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Observer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447288" y="1737360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One-to-many dependency — when one object changes, all dependents are notified. (event emitters, DOM events)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099048" y="1207008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190488" y="1298448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190488" y="1298448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Command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245352" y="1737360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Encapsulate a request as an object — supports undo, queue, and logging. (editor undo, task queues)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502920" y="3931920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94360" y="4023360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7A4FA3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94360" y="40233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Template Method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49224" y="4462272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Define the skeleton of an algorithm; subclasses override specific steps. (parsers, report generators)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300984" y="3931920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392424" y="4023360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50808E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3392424" y="40233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State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447288" y="4462272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Let an object change behaviour when its internal state changes. (order workflow, vending machine)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099048" y="3931920"/>
            <a:ext cx="2542032" cy="2468880"/>
          </a:xfrm>
          <a:prstGeom prst="roundRect">
            <a:avLst>
              <a:gd name="adj" fmla="val 185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190488" y="4023360"/>
            <a:ext cx="2359152" cy="384048"/>
          </a:xfrm>
          <a:prstGeom prst="roundRect">
            <a:avLst>
              <a:gd name="adj" fmla="val 11905"/>
            </a:avLst>
          </a:prstGeom>
          <a:solidFill>
            <a:srgbClr val="B8860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190488" y="40233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 The common theme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245352" y="4462272"/>
            <a:ext cx="2249424" cy="1847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All govern COMMUNICATION and the distribution of responsibility — keeping objects loosely coupled while they collaborate.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Connections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660723"/>
              </p:ext>
            </p:extLst>
          </p:nvPr>
        </p:nvGraphicFramePr>
        <p:xfrm>
          <a:off x="502920" y="1133856"/>
          <a:ext cx="8138160" cy="28346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6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SOLID principle it embodies</a:t>
                      </a:r>
                      <a:endParaRPr lang="en-US" sz="16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OCP: add a new algorithm without touching the context.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DIP: the context depends on the strategy interface.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Observer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OCP: add new subscribers without changing the subject.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SRP: the subject publishes; subscribers react.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SRP: each command encapsulates one action.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OCP: add a new command without changing the invoker.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Template Method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OCP via inheritance: vary steps by overriding, not by editing the skeleton.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LSP: every subclass honors the base contract, so it stays substitutable.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OCP: add a new state class without editing the others.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SRP: each state owns its own transitions.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— Swap Algorithms at Run Time</a:t>
            </a: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GoF Ch. 5, p. 315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Intent: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Define a family of algorithms, encapsulate each, and make them interchangeable — letting the algorithm vary independently from its clients.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Use when: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Many classes differ only in behaviour, or you need variants of an algorithm selectable at run time (sorting, pricing, matching, compression).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Participants:  </a:t>
            </a:r>
          </a:p>
          <a:p>
            <a:pPr>
              <a:lnSpc>
                <a:spcPct val="103000"/>
              </a:lnSpc>
              <a:buSzPct val="100000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	-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STRATEGY (the algorithm interface), </a:t>
            </a:r>
          </a:p>
          <a:p>
            <a:pPr>
              <a:lnSpc>
                <a:spcPct val="103000"/>
              </a:lnSpc>
              <a:buSzPct val="100000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	- CONCRETE STRATEGY (each algorithm in its own class), </a:t>
            </a:r>
          </a:p>
          <a:p>
            <a:pPr>
              <a:lnSpc>
                <a:spcPct val="103000"/>
              </a:lnSpc>
              <a:buSzPct val="100000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	- CONTEXT (holds a strategy and delegates to it).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Key rule: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Context never contains the algorithm — it HOLDS one and delegates. Swapping the strategy changes behaviour without changing the Context.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— The if/else Algorithm Switch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3108960"/>
          </a:xfrm>
          <a:prstGeom prst="roundRect">
            <a:avLst>
              <a:gd name="adj" fmla="val 1765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students write without Strategy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Matcher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score(driver, req, mode: string): number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(mode === 'nearest')  return distance(driver, req);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(mode === 'rated')    return -driver.rating;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(mode === 'cheapest') return driver.ratePerKm;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add a new mode → edit this method again (OCP violation)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4352544"/>
            <a:ext cx="8138160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scoring rule edits this method; testing one rule drags in all of them; the matcher</a:t>
            </a:r>
            <a:r>
              <a:rPr lang="en-US" sz="1200" dirty="0"/>
              <a:t> </a:t>
            </a:r>
            <a:r>
              <a:rPr lang="en-US" sz="12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owns five unrelated algorithms (SRP violation).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0"/>
            <a:ext cx="7406640" cy="9326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alibri"/>
              </a:rPr>
              <a:t>Strategy — swap the algorithm at run time</a:t>
            </a:r>
          </a:p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MatchingEngine picks nearest, highest-rated, or cheapest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800" b="0" i="0">
                <a:solidFill>
                  <a:srgbClr val="9A9CA3"/>
                </a:solidFill>
                <a:latin typeface="Calibri"/>
              </a:rPr>
              <a:t>CSC 4273   ·   Software Architecture &amp; Design Patterns   ·  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800" b="0" i="0">
                <a:solidFill>
                  <a:srgbClr val="9A9CA3"/>
                </a:solidFill>
                <a:latin typeface="Calibri"/>
              </a:rPr>
              <a:t>Week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085041"/>
                </a:solidFill>
                <a:latin typeface="Calibri"/>
              </a:rPr>
              <a:t>MatchingEngine</a:t>
            </a:r>
          </a:p>
          <a:p>
            <a:pPr algn="ctr"/>
            <a:r>
              <a:rPr sz="1000" b="0" i="1">
                <a:solidFill>
                  <a:srgbClr val="0F6E56"/>
                </a:solidFill>
                <a:latin typeface="Calibri"/>
              </a:rPr>
              <a:t>holds a MatchScorer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50876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2857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MatchScorer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score(driver)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1874519"/>
            <a:ext cx="365760" cy="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331720" y="1188720"/>
            <a:ext cx="128016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delegates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2377440" cy="77724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NearestScorer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score = −distance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3383280"/>
            <a:ext cx="2377440" cy="77724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HighestRatedScorer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score = rating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383280"/>
            <a:ext cx="2377440" cy="77724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CheapestScorer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score = −rate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645920" y="2286000"/>
            <a:ext cx="2011680" cy="1097280"/>
          </a:xfrm>
          <a:prstGeom prst="line">
            <a:avLst/>
          </a:prstGeom>
          <a:ln w="15875">
            <a:solidFill>
              <a:srgbClr val="5A5C6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389120" y="2286000"/>
            <a:ext cx="91440" cy="1097280"/>
          </a:xfrm>
          <a:prstGeom prst="line">
            <a:avLst/>
          </a:prstGeom>
          <a:ln w="15875">
            <a:solidFill>
              <a:srgbClr val="5A5C6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5212080" y="2286000"/>
            <a:ext cx="1920240" cy="1097280"/>
          </a:xfrm>
          <a:prstGeom prst="line">
            <a:avLst/>
          </a:prstGeom>
          <a:ln w="15875">
            <a:solidFill>
              <a:srgbClr val="5A5C6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94960" y="2697480"/>
            <a:ext cx="146304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implements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54880"/>
            <a:ext cx="621792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swap the scorer → a different “best driver”, with no change to MatchingEngine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Strategy: swappable matching scorer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663440"/>
          </a:xfrm>
          <a:prstGeom prst="roundRect">
            <a:avLst>
              <a:gd name="adj" fmla="val 1176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ScoringStrategy {                       // STRATEGY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score(driver: Driver, req: RideRequest): number;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NearestScorer implements ScoringStrategy {  // CONCRETE STRATEGY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score(d, r) { return haversine(d.location, r.pickup); }   // lower = better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RatingScorer implements ScoringStrategy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score(d, _r) { return -d.averageRating;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MatchingEngine {                            // CONTEXT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constructor(private scorer: ScoringStrategy) {}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setScorer(s: ScoringStrategy) { this.scorer = s; }   // swap at run time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best(drivers, req)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drivers.sort((a, b) =&gt;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this.scorer.score(a, req) - this.scorer.score(b, req))[0];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engine.setScorer(isExamWeek ? new RatingScorer() : new NearestScorer());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907024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3’s Abstract Factory chose a whole matching FAMILY at wiring time; Strategy swaps just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SCORING algorithm dynamically, per request.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Observer — Event-Driven Communication</a:t>
            </a: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GoF Ch. 5, p. 293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Intent: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Define a one-to-many dependency so that when one object changes state, all its dependents are notified and updated automatically.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Use when: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change to one object must propagate to an unknown number of others, and you want the source decoupled from the receivers.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Participants:  </a:t>
            </a:r>
          </a:p>
          <a:p>
            <a:pPr>
              <a:lnSpc>
                <a:spcPct val="103000"/>
              </a:lnSpc>
              <a:buSzPct val="100000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	-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SUBJECT (keeps observers, exposes subscribe/notify), </a:t>
            </a:r>
          </a:p>
          <a:p>
            <a:pPr>
              <a:lnSpc>
                <a:spcPct val="103000"/>
              </a:lnSpc>
              <a:buSzPct val="100000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	- OBSERVER (the update() interface), </a:t>
            </a:r>
          </a:p>
          <a:p>
            <a:pPr>
              <a:lnSpc>
                <a:spcPct val="103000"/>
              </a:lnSpc>
              <a:buSzPct val="100000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	- CONCRETE OBSERVERS (push, SMS, analytics).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You already use it: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Node’s EventEmitter and the browser’s addEventListener are Observer — the subject does not know who is listening.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Observer — The Notification Spaghetti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Without Observer, when a ride is accepted, RideService directly calls — itself — the: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push service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SMS service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analytics tracker</a:t>
            </a:r>
            <a:endParaRPr lang="en-US" sz="1400" dirty="0">
              <a:latin typeface="Cambria" panose="02040503050406030204" pitchFamily="18" charset="0"/>
            </a:endParaRPr>
          </a:p>
          <a:p>
            <a:pPr marL="685800" lvl="1" indent="-3429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driver-app gateway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Add an ‘email receipt’ requirement and you edit RideService AGAIN. It now knows about, and</a:t>
            </a:r>
            <a:endParaRPr lang="en-US" sz="1400" dirty="0">
              <a:latin typeface="Cambria" panose="02040503050406030204" pitchFamily="18" charset="0"/>
            </a:endParaRPr>
          </a:p>
          <a:p>
            <a:pPr marL="0" indent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depends on, every downstream consumer; it cannot be tested without mocking all of them; and</a:t>
            </a:r>
            <a:r>
              <a:rPr lang="en-US" sz="1400" dirty="0">
                <a:latin typeface="Cambria" panose="02040503050406030204" pitchFamily="18" charset="0"/>
              </a:rPr>
              <a:t> </a:t>
            </a:r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list grows forever (OCP violation).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0"/>
            <a:ext cx="7406640" cy="9326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alibri"/>
              </a:rPr>
              <a:t>Observer — one change, many reactions</a:t>
            </a:r>
          </a:p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a ride-status change fans out to every subscriber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800" b="0" i="0">
                <a:solidFill>
                  <a:srgbClr val="9A9CA3"/>
                </a:solidFill>
                <a:latin typeface="Calibri"/>
              </a:rPr>
              <a:t>CSC 4273   ·   Software Architecture &amp; Design Patterns   ·  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800" b="0" i="0">
                <a:solidFill>
                  <a:srgbClr val="9A9CA3"/>
                </a:solidFill>
                <a:latin typeface="Calibri"/>
              </a:rPr>
              <a:t>Week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085041"/>
                </a:solidFill>
                <a:latin typeface="Calibri"/>
              </a:rPr>
              <a:t>RideStatusPublisher</a:t>
            </a:r>
          </a:p>
          <a:p>
            <a:pPr algn="ctr"/>
            <a:r>
              <a:rPr sz="1000" b="0" i="1">
                <a:solidFill>
                  <a:srgbClr val="0F6E56"/>
                </a:solidFill>
                <a:latin typeface="Calibri"/>
              </a:rPr>
              <a:t>publish(event)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371600"/>
            <a:ext cx="2377440" cy="73152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2857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RideObserver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onRideEvent()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2377440" cy="658368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NotifyingObserver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sends push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697480"/>
            <a:ext cx="2377440" cy="658368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AnalyticsObserver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counts rides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611880"/>
            <a:ext cx="2377440" cy="658368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AuditObserver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writes audit log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200400" y="2112264"/>
            <a:ext cx="3108960" cy="950976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200400" y="3026664"/>
            <a:ext cx="3108960" cy="173736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97680" y="2743200"/>
            <a:ext cx="109728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notify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3383280"/>
            <a:ext cx="3108960" cy="557783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943600" y="1783080"/>
            <a:ext cx="1554479" cy="320040"/>
          </a:xfrm>
          <a:prstGeom prst="line">
            <a:avLst/>
          </a:prstGeom>
          <a:ln w="15875">
            <a:solidFill>
              <a:srgbClr val="5A5C6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0" y="1417320"/>
            <a:ext cx="146304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implements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892040"/>
            <a:ext cx="64008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the publisher knows only the RideObserver interface — add or remove reactions freely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Observer: ride-status fan-out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663440"/>
          </a:xfrm>
          <a:prstGeom prst="roundRect">
            <a:avLst>
              <a:gd name="adj" fmla="val 1176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RideObserver { update(event: string, ride: Ride): void; }  // OBSERVER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endParaRPr lang="en-US" sz="1400" b="1" dirty="0">
              <a:solidFill>
                <a:srgbClr val="1E7A34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RideEventBus {                              // SUBJECT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subs = new Map&lt;string, Set&lt;RideObserver&gt;&gt;();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subscribe(evt: string, o: RideObserver)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(!this.subs.has(evt)) this.subs.set(evt, new Set());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this.subs.get(evt)!.add(o);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publish(evt: string, ride: Ride)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this.subs.get(evt)?.forEach(o =&gt; o.update(evt, ride));   // fan-out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PushObserver implements RideObserver {      // CONCRETE OBSERVER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update(_e, ride) { fcm.send(ride.studentId, 'Driver on the way');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bus.subscribe('ride.accepted', new PushObserver());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bus.subscribe('ride.accepted', new SmsObserver());   </a:t>
            </a:r>
            <a:r>
              <a:rPr lang="en-US" sz="12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subscribers freely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907024"/>
            <a:ext cx="81381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RideService emits ONE event. Adding an email receipt = one new observer, zero changes to the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code.</a:t>
            </a:r>
            <a:r>
              <a:rPr lang="en-US" sz="11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This is the seed of the event-driven architecture in Week 6.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Week-5 &amp; Part-2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PART 2 LEARNING GOALS — By the end of Part 2, you will be able to: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Implement the Command pattern to encapsulate actions with undo and queueing.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Implement the Template Method pattern to share a skeleton while varying steps.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Implement the State pattern so an object’s behaviour follows its lifecycle.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Distinguish Strategy from State and choose correctly under exam conditions.</a:t>
            </a:r>
            <a:endParaRPr lang="en-US" sz="15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Add the behavioural-pattern decisions to the UniRide Evolution Tracker.</a:t>
            </a:r>
            <a:endParaRPr lang="en-US" sz="15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— Encapsulate Actions as Objects</a:t>
            </a: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</a:t>
            </a:r>
            <a:b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1600" i="1" dirty="0" err="1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GoF</a:t>
            </a: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Ch. 5, p. 233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Intent: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Encapsulate a request as an object — letting you parameterise clients with requests, queue or log them, and support undoable operations.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Use when: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You need undo/redo, a queue of actions, retries, or an audit trail of what was done.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Participants:  </a:t>
            </a:r>
          </a:p>
          <a:p>
            <a:pPr>
              <a:lnSpc>
                <a:spcPct val="103000"/>
              </a:lnSpc>
              <a:buSzPct val="100000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	-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COMMAND (execute/undo), </a:t>
            </a:r>
          </a:p>
          <a:p>
            <a:pPr>
              <a:lnSpc>
                <a:spcPct val="103000"/>
              </a:lnSpc>
              <a:buSzPct val="100000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	- CONCRETE COMMAND (binds a receiver to an action), </a:t>
            </a:r>
          </a:p>
          <a:p>
            <a:pPr>
              <a:lnSpc>
                <a:spcPct val="103000"/>
              </a:lnSpc>
              <a:buSzPct val="100000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	- RECEIVER (does the work), </a:t>
            </a:r>
          </a:p>
          <a:p>
            <a:pPr>
              <a:lnSpc>
                <a:spcPct val="103000"/>
              </a:lnSpc>
              <a:buSzPct val="100000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	- INVOKER (triggers + keeps history).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shift: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An action becomes a VALUE you can store, pass, queue, log, and reverse — not just a method call that happens and is gone.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0"/>
            <a:ext cx="7406640" cy="9326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alibri"/>
              </a:rPr>
              <a:t>Command — actions as objects, with undo</a:t>
            </a:r>
          </a:p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cancel and refund become executable, reversible objects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800" b="0" i="0">
                <a:solidFill>
                  <a:srgbClr val="9A9CA3"/>
                </a:solidFill>
                <a:latin typeface="Calibri"/>
              </a:rPr>
              <a:t>CSC 4273   ·   Software Architecture &amp; Design Patterns   ·  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800" b="0" i="0">
                <a:solidFill>
                  <a:srgbClr val="9A9CA3"/>
                </a:solidFill>
                <a:latin typeface="Calibri"/>
              </a:rPr>
              <a:t>Week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085041"/>
                </a:solidFill>
                <a:latin typeface="Calibri"/>
              </a:rPr>
              <a:t>CommandInvoker</a:t>
            </a:r>
          </a:p>
          <a:p>
            <a:pPr algn="ctr"/>
            <a:r>
              <a:rPr sz="1000" b="0" i="1">
                <a:solidFill>
                  <a:srgbClr val="0F6E56"/>
                </a:solidFill>
                <a:latin typeface="Calibri"/>
              </a:rPr>
              <a:t>run() · undoLast()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417320"/>
            <a:ext cx="2468880" cy="77724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28575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Command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execute() · undo()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971800"/>
            <a:ext cx="2651760" cy="713232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CancelRideCommand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a Command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840480"/>
            <a:ext cx="2651760" cy="713232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RefundPaymentCommand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a Command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200400"/>
            <a:ext cx="2194560" cy="86868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712B13"/>
                </a:solidFill>
                <a:latin typeface="Calibri"/>
              </a:rPr>
              <a:t>RideService / Ledger</a:t>
            </a:r>
          </a:p>
          <a:p>
            <a:pPr algn="ctr"/>
            <a:r>
              <a:rPr sz="1000" b="0" i="1">
                <a:solidFill>
                  <a:srgbClr val="993C1D"/>
                </a:solidFill>
                <a:latin typeface="Calibri"/>
              </a:rPr>
              <a:t>the real work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926080" y="2194560"/>
            <a:ext cx="640080" cy="86868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606040" y="2377440"/>
            <a:ext cx="118872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invokes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572000" y="2194560"/>
            <a:ext cx="0" cy="777240"/>
          </a:xfrm>
          <a:prstGeom prst="line">
            <a:avLst/>
          </a:prstGeom>
          <a:ln w="15875">
            <a:solidFill>
              <a:srgbClr val="5A5C6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63440" y="2423160"/>
            <a:ext cx="146304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implements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0" y="3291840"/>
            <a:ext cx="457200" cy="22860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943600" y="3840480"/>
            <a:ext cx="457200" cy="27432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0" y="4206240"/>
            <a:ext cx="109728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acts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074920"/>
            <a:ext cx="621792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the invoker keeps a history — execute() does the action, undo() reverses 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Command: cancel / refund with undo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754880"/>
          </a:xfrm>
          <a:prstGeom prst="roundRect">
            <a:avLst>
              <a:gd name="adj" fmla="val 1154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Command { execute(): Promise&lt;void&gt;; undo(): Promise&lt;void&gt;;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CancelRideCommand implements Command {        // CONCRETE COMMAND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constructor(private ride: Ride, private rides: RideService,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private pay: PaymentService) {}        // RECEIVERS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execute()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this.rides.cancel(this.ride.id);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this.pay.refundHold(this.ride.id);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undo()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this.rides.reinstate(this.ride.id);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this.pay.placeHold(this.ride);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CommandBus {                                  // INVOKER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history: Command[] = [];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run(c: Command) { await c.execute(); this.history.push(c);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undoLast() { await this.history.pop()?.undo();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998464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‘Cancel by mistake’ becomes one undoLast() call; the history doubles as an audit log; and the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commands can be queued for retry when a refund API is briefly down.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 Method — Skeleton, Variable Steps</a:t>
            </a: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GoF Ch. 5, p. 325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Intent: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Define the skeleton of an algorithm in a base method, deferring some steps to subclasses without changing the algorithm’s structure.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Use when: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Several variants share the same overall procedure but differ in a few steps, and you want the shared sequence written once.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vs. Strategy: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Template Method varies steps by INHERITANCE (base owns the skeleton, subclasses override hooks); Strategy swaps the WHOLE algorithm by composition.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Rule of thumb: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Outline fixed, only steps change → Template Method. The whole algorithm swaps at run time → Strategy.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0"/>
            <a:ext cx="7406640" cy="9326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alibri"/>
              </a:rPr>
              <a:t>Template Method — fixed skeleton, variable step</a:t>
            </a:r>
          </a:p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settle() runs the same steps; a subclass varies one hook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800" b="0" i="0">
                <a:solidFill>
                  <a:srgbClr val="9A9CA3"/>
                </a:solidFill>
                <a:latin typeface="Calibri"/>
              </a:rPr>
              <a:t>CSC 4273   ·   Software Architecture &amp; Design Patterns   ·  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800" b="0" i="0">
                <a:solidFill>
                  <a:srgbClr val="9A9CA3"/>
                </a:solidFill>
                <a:latin typeface="Calibri"/>
              </a:rPr>
              <a:t>Week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417320"/>
            <a:ext cx="4389120" cy="77724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085041"/>
                </a:solidFill>
                <a:latin typeface="Calibri"/>
              </a:rPr>
              <a:t>FareSettlement «​abstract»</a:t>
            </a:r>
          </a:p>
          <a:p>
            <a:pPr algn="ctr"/>
            <a:r>
              <a:rPr sz="1000" b="0" i="1">
                <a:solidFill>
                  <a:srgbClr val="0F6E56"/>
                </a:solidFill>
                <a:latin typeface="Calibri"/>
              </a:rPr>
              <a:t>settle() = fixed skeleton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applyServiceFee()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fixed 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697480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712B13"/>
                </a:solidFill>
                <a:latin typeface="Calibri"/>
              </a:rPr>
              <a:t>applyRideAdjustment()</a:t>
            </a:r>
          </a:p>
          <a:p>
            <a:pPr algn="ctr"/>
            <a:r>
              <a:rPr sz="1000" b="0" i="1">
                <a:solidFill>
                  <a:srgbClr val="993C1D"/>
                </a:solidFill>
                <a:latin typeface="Calibri"/>
              </a:rPr>
              <a:t>hook — overridden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697480"/>
            <a:ext cx="2468880" cy="658368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finalize()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fixed step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026664"/>
            <a:ext cx="228600" cy="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06440" y="3026664"/>
            <a:ext cx="228600" cy="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0" y="2194560"/>
            <a:ext cx="0" cy="50292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17720" y="2286000"/>
            <a:ext cx="164592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calls in order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4114800"/>
            <a:ext cx="2468880" cy="73152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StandardSettlement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adjust = ×1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4114800"/>
            <a:ext cx="2468880" cy="73152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PoolSettlement</a:t>
            </a:r>
          </a:p>
          <a:p>
            <a:pPr algn="ctr"/>
            <a:r>
              <a:rPr sz="1000" b="0" i="1">
                <a:solidFill>
                  <a:srgbClr val="534AB7"/>
                </a:solidFill>
                <a:latin typeface="Calibri"/>
              </a:rPr>
              <a:t>adjust = ×0.8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063240" y="3355848"/>
            <a:ext cx="1143000" cy="758952"/>
          </a:xfrm>
          <a:prstGeom prst="line">
            <a:avLst/>
          </a:prstGeom>
          <a:ln w="15875">
            <a:solidFill>
              <a:srgbClr val="5A5C6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4937760" y="3355848"/>
            <a:ext cx="1143000" cy="758952"/>
          </a:xfrm>
          <a:prstGeom prst="line">
            <a:avLst/>
          </a:prstGeom>
          <a:ln w="15875">
            <a:solidFill>
              <a:srgbClr val="5A5C66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46320" y="3657600"/>
            <a:ext cx="146304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overrides hook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532120"/>
            <a:ext cx="585216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the order of steps is fixed in the base class; subclasses change only the hook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Template Method: ride-processing skeleton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572000"/>
          </a:xfrm>
          <a:prstGeom prst="roundRect">
            <a:avLst>
              <a:gd name="adj" fmla="val 1200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class RideProcessor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process(req: RideRequest): Ride {            </a:t>
            </a:r>
            <a:r>
              <a:rPr lang="en-US" sz="12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TEMPLATE METHOD (fixed order)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this.validate(req);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fare = this.price(req);             // step varies by subclass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ride = this.persist(req, fare);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this.notify(ride);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ride;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protected validate(r: RideRequest) { /* shared */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protected persist(r: RideRequest, fare: number) { /* shared */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protected notify(ride: Ride) { /* shared */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protected abstract price(r: RideRequest): number;   // HOOK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ScheduledRide extends RideProcessor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protected price(r) { return baseFare(r) + BOOKING_FEE; }  </a:t>
            </a:r>
            <a:r>
              <a:rPr lang="en-US" sz="12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only this differs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5815584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validate→price→persist→notify order is written ONCE and cannot be broken by a new ride</a:t>
            </a:r>
            <a:r>
              <a:rPr lang="en-US" sz="1100" dirty="0"/>
              <a:t> </a:t>
            </a:r>
            <a:r>
              <a:rPr lang="en-US" sz="1100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type.</a:t>
            </a:r>
            <a:r>
              <a:rPr lang="en-US" sz="11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new variant overrides only price().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— Behaviour Follows the Lifecycle</a:t>
            </a:r>
            <a:r>
              <a:rPr lang="en-US" sz="1600" i="1" dirty="0">
                <a:solidFill>
                  <a:srgbClr val="C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GoF Ch. 5, p. 305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188720"/>
            <a:ext cx="813816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Intent: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Allow an object to alter its behaviour when its internal state changes — the object appears to change its class.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Use when: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Behaviour depends on state, and large conditionals switch on a state field scattered across many methods.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Participants:  </a:t>
            </a:r>
          </a:p>
          <a:p>
            <a:pPr>
              <a:lnSpc>
                <a:spcPct val="103000"/>
              </a:lnSpc>
              <a:buSzPct val="100000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	-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CONTEXT (the object with a lifecycle, holds a State), </a:t>
            </a:r>
          </a:p>
          <a:p>
            <a:pPr>
              <a:lnSpc>
                <a:spcPct val="103000"/>
              </a:lnSpc>
              <a:buSzPct val="100000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	- STATE (the action interface), </a:t>
            </a:r>
          </a:p>
          <a:p>
            <a:pPr>
              <a:lnSpc>
                <a:spcPct val="103000"/>
              </a:lnSpc>
              <a:buSzPct val="100000"/>
            </a:pP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	- CONCRETE STATES (one class per state, owning its legal transitions).</a:t>
            </a:r>
            <a:endParaRPr lang="en-US" sz="155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3000"/>
              </a:lnSpc>
              <a:buSzPct val="100000"/>
              <a:buChar char="•"/>
            </a:pPr>
            <a:r>
              <a:rPr lang="en-US" sz="155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payoff:  </a:t>
            </a:r>
            <a:r>
              <a:rPr lang="en-US" sz="155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Each state owns only its legal transitions; illegal transitions become impossible by construction — no scattered if-statements.</a:t>
            </a:r>
            <a:endParaRPr lang="en-US" sz="155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— The State-Flag Conditional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3108960"/>
          </a:xfrm>
          <a:prstGeom prst="roundRect">
            <a:avLst>
              <a:gd name="adj" fmla="val 1765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students write without State — the same ladder in every method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cancel()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(status === 'completed') throw new Error('too late');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(status === 'enroute')   { /* ... */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start()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(status !== 'matched') throw new Error('cannot start');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4352544"/>
            <a:ext cx="8138160" cy="2157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transitions are smeared across every method. Adding a ‘Paused’ state means editing every</a:t>
            </a:r>
            <a:r>
              <a:rPr lang="en-US" sz="1200" dirty="0"/>
              <a:t> </a:t>
            </a:r>
            <a:r>
              <a:rPr lang="en-US" sz="1200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r>
              <a:rPr lang="en-US" sz="120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illegal transitions slip through (OCP + SRP violation).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0"/>
            <a:ext cx="7406640" cy="9326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Calibri"/>
              </a:rPr>
              <a:t>State — behaviour follows the lifecycle</a:t>
            </a:r>
          </a:p>
          <a:p>
            <a:pPr algn="l"/>
            <a:r>
              <a:rPr sz="1100" b="0" i="1">
                <a:solidFill>
                  <a:srgbClr val="CADCFC"/>
                </a:solidFill>
                <a:latin typeface="Calibri"/>
              </a:rPr>
              <a:t>the Ride delegates to its current state object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800" b="0" i="0">
                <a:solidFill>
                  <a:srgbClr val="9A9CA3"/>
                </a:solidFill>
                <a:latin typeface="Calibri"/>
              </a:rPr>
              <a:t>CSC 4273   ·   Software Architecture &amp; Design Patterns   ·   AIUB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800" b="0" i="0">
                <a:solidFill>
                  <a:srgbClr val="9A9CA3"/>
                </a:solidFill>
                <a:latin typeface="Calibri"/>
              </a:rPr>
              <a:t>Week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2103120" cy="82296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28575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085041"/>
                </a:solidFill>
                <a:latin typeface="Calibri"/>
              </a:rPr>
              <a:t>Ride</a:t>
            </a:r>
          </a:p>
          <a:p>
            <a:pPr algn="ctr"/>
            <a:r>
              <a:rPr sz="1000" b="0" i="1">
                <a:solidFill>
                  <a:srgbClr val="0F6E56"/>
                </a:solidFill>
                <a:latin typeface="Calibri"/>
              </a:rPr>
              <a:t>delegates to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645920"/>
            <a:ext cx="1645920" cy="64008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Requested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645920"/>
            <a:ext cx="1645920" cy="64008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Assigned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645920"/>
            <a:ext cx="1645920" cy="640080"/>
          </a:xfrm>
          <a:prstGeom prst="roundRect">
            <a:avLst>
              <a:gd name="adj" fmla="val 8000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3C3489"/>
                </a:solidFill>
                <a:latin typeface="Calibri"/>
              </a:rPr>
              <a:t>InProgress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3200400"/>
            <a:ext cx="1645920" cy="640080"/>
          </a:xfrm>
          <a:prstGeom prst="roundRect">
            <a:avLst>
              <a:gd name="adj" fmla="val 8000"/>
            </a:avLst>
          </a:prstGeom>
          <a:solidFill>
            <a:srgbClr val="EAF3DE"/>
          </a:solidFill>
          <a:ln w="12700">
            <a:solidFill>
              <a:srgbClr val="3B6D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27500A"/>
                </a:solidFill>
                <a:latin typeface="Calibri"/>
              </a:rPr>
              <a:t>Completed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200400"/>
            <a:ext cx="1645920" cy="64008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i="0">
                <a:solidFill>
                  <a:srgbClr val="712B13"/>
                </a:solidFill>
                <a:latin typeface="Calibri"/>
              </a:rPr>
              <a:t>Cancelled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0320" y="1920240"/>
            <a:ext cx="457200" cy="27432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240280" y="2331720"/>
            <a:ext cx="118872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current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63440" y="1965960"/>
            <a:ext cx="320040" cy="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34840" y="1261872"/>
            <a:ext cx="109728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assign()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29400" y="1965960"/>
            <a:ext cx="320040" cy="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0" y="1261872"/>
            <a:ext cx="109728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start()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0" y="2286000"/>
            <a:ext cx="0" cy="91440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63840" y="2606040"/>
            <a:ext cx="118872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complete()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0" y="2286000"/>
            <a:ext cx="0" cy="914400"/>
          </a:xfrm>
          <a:prstGeom prst="line">
            <a:avLst/>
          </a:prstGeom>
          <a:ln w="15875">
            <a:solidFill>
              <a:srgbClr val="5A5C6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63240" y="2651760"/>
            <a:ext cx="146304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cancel()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937760"/>
            <a:ext cx="6400800" cy="23774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0" i="1">
                <a:solidFill>
                  <a:srgbClr val="5A5C66"/>
                </a:solidFill>
                <a:latin typeface="Calibri"/>
              </a:rPr>
              <a:t>each state allows only its legal transitions — illegal ones throw, replacing a status if/else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UniRide — State: the ride lifecycle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4846320"/>
          </a:xfrm>
          <a:prstGeom prst="roundRect">
            <a:avLst>
              <a:gd name="adj" fmla="val 1132"/>
            </a:avLst>
          </a:prstGeom>
          <a:solidFill>
            <a:srgbClr val="F5F5F7"/>
          </a:solidFill>
          <a:ln w="12700">
            <a:solidFill>
              <a:srgbClr val="D9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" y="1225296"/>
            <a:ext cx="7808976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RideState {                             // STATE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start(ride: Ride): void; cancel(ride: Ride): void; complete(ride: Ride): void;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MatchedState implements RideState {        // CONCRETE STATE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start(ride)    { ride.setState(new EnRouteState());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cancel(ride)   { ride.setState(new CancelledState());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complete(_ride){ throw new Error('cannot complete before starting');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CompletedState implements RideState {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start()   { throw new Error('ride already completed');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cancel()  { throw new Error('cannot cancel a completed ride');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complete(){ throw new Error('already completed');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7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Ride {                                     // CONTEXT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state: RideState = new RequestedState();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setState(s: RideState) { this.state = s;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start()    { this.state.start(this); }    // delegates — no if-ladder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complete() { this.state.complete(this); }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6089904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legal transition lives in one state class; an illegal transition (complete before start) is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at the source. A new ‘Paused’ state is one new class.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Behavioural Patterns — Comparison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253532"/>
              </p:ext>
            </p:extLst>
          </p:nvPr>
        </p:nvGraphicFramePr>
        <p:xfrm>
          <a:off x="502920" y="1133856"/>
          <a:ext cx="8329581" cy="1950720"/>
        </p:xfrm>
        <a:graphic>
          <a:graphicData uri="http://schemas.openxmlformats.org/drawingml/2006/table">
            <a:tbl>
              <a:tblPr/>
              <a:tblGrid>
                <a:gridCol w="1530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0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5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58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61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Varies…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Who triggers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UniRide use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 anchor="ctr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the algorithm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composition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client / config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Matching scorer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Observer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the audience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subscription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an emitted event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Ride-status fan-out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the action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objects + history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the invoker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Cancel/refund + undo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Template Method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a few steps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inheritance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subclass chosen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Ride pipeline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the behaviour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delegation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the object itself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mbria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a:t>Ride lifecycle</a:t>
                      </a:r>
                      <a:endParaRPr lang="en-US" sz="1400" dirty="0">
                        <a:latin typeface="Cambria" panose="02040503050406030204" pitchFamily="18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63500" marT="38100" marB="38100">
                    <a:lnL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7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Strategy vs. State — The Exam Favourite</a:t>
            </a:r>
            <a:endParaRPr lang="en-US" sz="2500" dirty="0">
              <a:latin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02920" y="1755648"/>
            <a:ext cx="3931920" cy="4645152"/>
          </a:xfrm>
          <a:prstGeom prst="roundRect">
            <a:avLst>
              <a:gd name="adj" fmla="val 930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30936" y="1865376"/>
            <a:ext cx="3675888" cy="441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CLIENT picks an interchangeable algorithm.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alternatives are unaware of one another.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Intent: vary an algorithm independently of its clients.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If your strategies never set the next strategy → Strategy.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709160" y="1207008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50808E"/>
          </a:solidFill>
          <a:ln/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709160" y="12070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709160" y="1755648"/>
            <a:ext cx="3931920" cy="4645152"/>
          </a:xfrm>
          <a:prstGeom prst="roundRect">
            <a:avLst>
              <a:gd name="adj" fmla="val 930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>
              <a:latin typeface="Cambria" panose="020405030504060302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837176" y="1865376"/>
            <a:ext cx="3675888" cy="441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The OBJECT transitions itself between states.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Each state knows which state comes next.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Intent: behaviour follows a lifecycle; gate legal actions.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If your ‘strategies’ set the next one → you built State.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Drill — Name the Pattern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133856"/>
            <a:ext cx="8138160" cy="5266944"/>
          </a:xfrm>
          <a:prstGeom prst="roundRect">
            <a:avLst>
              <a:gd name="adj" fmla="val 1042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1261872"/>
            <a:ext cx="7772400" cy="5010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Let users choose gzip or brotli compression.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→ Strategy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dashboard must refresh whenever any sensor reports.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F6DB5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→ Observer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An editor needs multi-level undo.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42852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→ Command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All report types share fetch→format→render but format differs.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A4FA3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→ Template Method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 document moves Draft→Review→Published, gating which edits are allowed.</a:t>
            </a:r>
            <a:endParaRPr lang="en-US" sz="1400" dirty="0">
              <a:latin typeface="Cambria" panose="02040503050406030204" pitchFamily="18" charset="0"/>
            </a:endParaRPr>
          </a:p>
          <a:p>
            <a:pPr marL="0" lvl="1" indent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50808E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→ State</a:t>
            </a:r>
            <a:endParaRPr lang="en-US" sz="14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— Week 5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408176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4081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44168" y="1225296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patterns govern communication and the distribution of responsibility.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2468880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2468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344168" y="2286000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swaps an interchangeable algorithm at run time; the client chooses.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3529584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" y="35295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344168" y="3346704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fans one event out to many subscribers the source does not know.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02920" y="4590288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45902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344168" y="4407408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turns actions into objects — enabling undo, queue, and audit.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5650992"/>
            <a:ext cx="566928" cy="566928"/>
          </a:xfrm>
          <a:prstGeom prst="roundRect">
            <a:avLst>
              <a:gd name="adj" fmla="val 80645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5650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344168" y="5468112"/>
            <a:ext cx="729691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Method shares a skeleton via inheritance; State makes illegal transitions impossible.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324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0" y="0"/>
            <a:ext cx="5029200" cy="932688"/>
          </a:xfrm>
          <a:prstGeom prst="rect">
            <a:avLst/>
          </a:prstGeom>
          <a:solidFill>
            <a:srgbClr val="4A4C5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iu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18872"/>
            <a:ext cx="694944" cy="694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0"/>
            <a:ext cx="80010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Reading &amp; References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502920" y="654710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4273  ·  Software Architecture &amp; Design Patterns  ·  AIUB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0" y="654710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9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02920" y="1207008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207008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GoF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691640" y="1207008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828800" y="1207008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Patterns: Elements of Reusable OO Software
</a:t>
            </a:r>
            <a:r>
              <a:rPr lang="en-US" sz="115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Gamma, Helm, Johnson, Vlissides (1994)  ·  Ch. 5  ·  Strategy, Observer, Command, Template Method, State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2542032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02920" y="2542032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HFDP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691640" y="2542032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28800" y="2542032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First Design Patterns, 2nd ed.
</a:t>
            </a:r>
            <a:r>
              <a:rPr lang="en-US" sz="115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Freeman &amp; Robson (2020)  ·  Ch. 1–2, 6, 8, 10  ·  the gentlest path into GoF Ch. 5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502920" y="3877056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02920" y="3877056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R.Guru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691640" y="3877056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828800" y="3877056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Refactoring.Guru — Behavioural Patterns
</a:t>
            </a:r>
            <a:r>
              <a:rPr lang="en-US" sz="115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refactoring.guru/design-patterns/behavioral-patterns  ·  diagrams &amp; code for all five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02920" y="5212080"/>
            <a:ext cx="1051560" cy="1188720"/>
          </a:xfrm>
          <a:prstGeom prst="roundRect">
            <a:avLst>
              <a:gd name="adj" fmla="val 5217"/>
            </a:avLst>
          </a:prstGeom>
          <a:solidFill>
            <a:srgbClr val="2428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5212080"/>
            <a:ext cx="1051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691640" y="5212080"/>
            <a:ext cx="6949440" cy="1188720"/>
          </a:xfrm>
          <a:prstGeom prst="roundRect">
            <a:avLst>
              <a:gd name="adj" fmla="val 3077"/>
            </a:avLst>
          </a:prstGeom>
          <a:solidFill>
            <a:srgbClr val="F2F3F6"/>
          </a:solidFill>
          <a:ln w="12700">
            <a:solidFill>
              <a:srgbClr val="D4D7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828800" y="521208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2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2 — Behavioural Pattern Comparison
</a:t>
            </a:r>
            <a:r>
              <a:rPr lang="en-US" sz="1150" dirty="0">
                <a:solidFill>
                  <a:srgbClr val="4142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patterns (Strategy vs. State recommended)  ·  due end of Week 6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1636</TotalTime>
  <Words>3684</Words>
  <Application>Microsoft Macintosh PowerPoint</Application>
  <PresentationFormat>On-screen Show (4:3)</PresentationFormat>
  <Paragraphs>481</Paragraphs>
  <Slides>30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AIUB — Dept. of Computer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Software Architecture &amp; Design Patterns</dc:subject>
  <dc:creator>MD. Al-Amin</dc:creator>
  <cp:lastModifiedBy>Md Al Amin</cp:lastModifiedBy>
  <cp:revision>58</cp:revision>
  <dcterms:created xsi:type="dcterms:W3CDTF">2026-06-11T11:40:34Z</dcterms:created>
  <dcterms:modified xsi:type="dcterms:W3CDTF">2026-07-12T19:28:03Z</dcterms:modified>
</cp:coreProperties>
</file>