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64" r:id="rId11"/>
    <p:sldId id="265" r:id="rId12"/>
    <p:sldId id="266" r:id="rId13"/>
    <p:sldId id="267" r:id="rId14"/>
    <p:sldId id="268" r:id="rId15"/>
    <p:sldId id="287" r:id="rId16"/>
    <p:sldId id="269" r:id="rId17"/>
    <p:sldId id="270" r:id="rId18"/>
    <p:sldId id="271" r:id="rId19"/>
    <p:sldId id="272" r:id="rId20"/>
    <p:sldId id="273" r:id="rId21"/>
    <p:sldId id="288" r:id="rId22"/>
    <p:sldId id="274" r:id="rId23"/>
    <p:sldId id="275" r:id="rId24"/>
    <p:sldId id="276" r:id="rId25"/>
    <p:sldId id="277" r:id="rId26"/>
    <p:sldId id="278" r:id="rId27"/>
    <p:sldId id="289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2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946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02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1417320"/>
          </a:xfrm>
          <a:prstGeom prst="rect">
            <a:avLst/>
          </a:prstGeom>
          <a:solidFill>
            <a:srgbClr val="3C3F4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603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Creational Design Patterns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CSC 4273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of Computer Science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of Science and Technology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ARCHITECTURE &amp; DESIGN PATTERN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138160" cy="7680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25-26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MD. Al-Amin &lt;alamin@aiub.edu&gt;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creational patterns exist — the problem with the new keyword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Singleton — one instance, global access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Factory Method — decouple creation from usage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Abstract Factory — families of related objects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Builder — step-by-step complex object construction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Comparison, decision flowchart &amp; Assignment 1 briefing</a:t>
            </a:r>
            <a:endParaRPr lang="en-US" sz="18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Week-3 &amp; Part-1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1 LEARNING GOALS — By the end of Part 1,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why creational patterns exist and the problem the new keyword creates.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a thread-safe Singleton in TypeScript and articulate its trade-offs.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Factory Method pattern and explain how it satisfies OCP.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Abstract Factory and explain how it guarantees product-family consistency.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Apply Singleton, Factory Method, and Abstract Factory to UniRide in code.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PROJECT — UniRide: Week 3 Context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Weeks 1–2 established structure: quality attributes, SOLID, layered architecture,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MVC, C4 diagrams, and the Modular-Monolith decision. This week we go one level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deeper: HOW objects are created within that structure.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problems we solve this week: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Singleton — ensure ONE database connection pool across the whole app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Factory Method — create Push / SMS / Email notifications without if-else chains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Abstract Factory — build matching strategies that stay internally consistent</a:t>
            </a:r>
            <a:endParaRPr lang="en-US" sz="16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Builder — construct complex RideRequest objects with many optional fields (Part 2)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Poorly managed object creation is one of the most common sources of bugs and</a:t>
            </a:r>
            <a:endParaRPr lang="en-US" sz="16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coupling in student projects — these four patterns fix it.</a:t>
            </a:r>
            <a:endParaRPr lang="en-US" sz="16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Creational Patterns? The Problem with new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const processor = new StripeProcessor();  creates a HARD dependency.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Tight coupling — the caller cannot run or be tested without StripeProcessor and its credentials.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Open/Closed violation — switching to BkashProcessor forces you to modify the calling class.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Scattered creation logic — if new StripeProcessor() appears in 10 places, switching providers means 10 edits, each a regression risk. </a:t>
            </a: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Creational patterns separate the CREATION of objects from their USE — the caller never needs to know which concrete class it gets.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The Four Creational Patterns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Ensure a class has ONE instance with a global access point. Use for a DB pool, config, or logger. Avoid as a global-variable dump.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0016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91456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91456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46320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an interface for creating objects; let subclasses decide the class. Use when the concrete type is a subclass decision and must be extensible.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4360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Abstract Factory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9224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Create families of related objects without naming concrete classes. Use when several related objects must be consistent. Overkill for one product.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00016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91456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91456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46320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Separate construction of a complex object from its representation. Use for many optional fields or multi-step construction. Overkill for 2–3 fields.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Connections — Bridge to Week 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880121"/>
              </p:ext>
            </p:extLst>
          </p:nvPr>
        </p:nvGraphicFramePr>
        <p:xfrm>
          <a:off x="502920" y="1133856"/>
          <a:ext cx="8138160" cy="2331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SOLID principles it embodies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Singleton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DIP: inject it as an interface, not a static global, so it can be swapped in tests.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implement an interface to swap the implementation without changing callers.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Factory Method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 new product type is a new subclass, not a modification.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DIP: the creator returns an interface (PaymentGateway), not a concrete class.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Abstract Factory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add a new product family without touching consumers.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ISP: the factory interface stays narrow — only the family’s methods.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Builder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SRP: the Builder owns construction; the Product owns its data — separate concerns. LSP: every builder honours the full construction contract.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 — The Three Components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3, p. 127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Private constructor: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Prevents any code outside the class from calling new Singleton(). In TypeScript: private constructor() {}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Private static instance: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Holds the single created instance; starts as null. In TypeScript: private static instance: DatabasePool | null = null;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Public static getInstance():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only way to obtain the instance — creates it on first call, returns the existing one thereafter.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Memory aid: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“Private constructor, private static instance, public static getInstance().” If a someone can say those three, they understand Singleton.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Singleton — one shared instance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every module gets the same object, never a new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Booking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383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AppConfig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one shared instance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2212848"/>
            <a:ext cx="2194560" cy="1170432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212848"/>
            <a:ext cx="0" cy="1170432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212080" y="2212848"/>
            <a:ext cx="2194560" cy="1170432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68880" y="4572000"/>
            <a:ext cx="42062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getInstance() always returns the same object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 — Thread-safe TypeScript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206240"/>
          </a:xfrm>
          <a:prstGeom prst="roundRect">
            <a:avLst>
              <a:gd name="adj" fmla="val 130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DatabaseConnection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instance: DatabaseConnection | null = null;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constructor(private readonly url: string)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getInstance(url: string): DatabaseConnection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(!DatabaseConnection.instance)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DatabaseConnection.instance = new DatabaseConnection(url);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DatabaseConnection.instance;       // same object every time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db1 = DatabaseConnection.getInstance('postgres://localhost/db');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db2 = DatabaseConnection.getInstance('postgres://localhost/db');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console.log(db1 === db2);   // true — reference equality, ONE object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449824"/>
            <a:ext cx="81381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is single-threaded, so the simple null check is enough (no double-checked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locking)</a:t>
            </a: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Add a static resetForTesting() — in tests only — to clear the instance.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Singleton Debate — Both Sides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E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2112967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Database connection pool — one pool is correct; many pools exhaust connections.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Application configuration — read-only, must be consistent everywhere.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Logger — one pipeline avoids interleaved or duplicate log entries.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B03A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2112967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Sharing mutable state between unrelated parts — a disguised global variable.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Avoiding dependency injection — makes the class untestable (cannot mock).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Modern fix: a DI-scoped singleton (e.g. NestJS @Injectable) — singleton behaviour WITH testability.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Singleton: DB Connection Pool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43904"/>
            <a:ext cx="8138160" cy="4297680"/>
          </a:xfrm>
          <a:prstGeom prst="roundRect">
            <a:avLst>
              <a:gd name="adj" fmla="val 1277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DatabasePool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instance: DatabasePool | null = null;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readonly pool: Pool;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constructor()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this.pool = new Pool({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connectionString: process.env.DATABASE_URL,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max: 20, idleTimeoutMillis: 30000, connectionTimeoutMillis: 2000,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getInstance(): DatabasePool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(!DatabasePool.instance) DatabasePool.instance = new DatabasePool();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DatabasePool.instance;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getPool(): Pool { return this.pool;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541264"/>
            <a:ext cx="81381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db.t3.micro caps at 100 connections. 8 services × max:20 = 160 → DB refuses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call fails. One shared pool with max:20 keeps us safely under the cap.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Method — The Problem It Solves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023360"/>
          </a:xfrm>
          <a:prstGeom prst="roundRect">
            <a:avLst>
              <a:gd name="adj" fmla="val 136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most students write: an if-else notification dispatcher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NotificationService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notify(userId, message, channel)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(channel === 'push')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fcm = new FCMClient(process.env.FCM_KEY!);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fcm.send({ to: userId, body: message });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(channel === 'sms')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twilio = new TwilioClient(/* ... */);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twilio.messages.create({ to: userId, body: message });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(channel === 'email') { /* ...SendGrid... */ 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Add WhatsApp next month? Open this file again...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5266944"/>
            <a:ext cx="813816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channel modifies this file (OCP violation); testing one channel needs ALL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credentials;</a:t>
            </a: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SDKs in one file (SRP violation).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Method — The Four Participants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3, p. 107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Product: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interface every created object implements, e.g. interface Notification { send(message: string): void; }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Concrete Product: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actual object created — EmailNotification, SMSNotification, PushNotification.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Creator: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Declares the factory method and contains the business logic that USES the product, e.g. abstract NotificationService.createNotification().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Concrete Creator: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subclass that overrides the factory method and decides which concrete product to create. The Creator never calls new ConcreteProduct() directly.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Factory Method — a subclass picks the product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logistics: road division → truck, sea division →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Logistics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abstract creator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463040"/>
            <a:ext cx="3108960" cy="82296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Transport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product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17904"/>
            <a:ext cx="25603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createTransport()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1874519"/>
            <a:ext cx="1645921" cy="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1938528"/>
            <a:ext cx="25603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returns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3108960" cy="73152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RoadLogistics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extends Logistics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3108960" cy="73152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SeaLogistics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extends Logistics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926080"/>
            <a:ext cx="310896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Truck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a Transport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4114800"/>
            <a:ext cx="310896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Ship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a Transport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291840"/>
            <a:ext cx="1645921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3035808"/>
            <a:ext cx="1645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creates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39" y="4480560"/>
            <a:ext cx="1645921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49039" y="4224528"/>
            <a:ext cx="1645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creates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Method — TypeScript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Notification { send(message: string): void; }      // PRODUCT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EmailNotification implements Notification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send(m: string) { console.log('Email:', m);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SMSNotification implements Notification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send(m: string) { console.log('SMS:', m);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NotificationService {                          // CREATOR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abstract createNotification(): Notification;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notify(message: string)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 = this.createNotification();   // factory method call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n.send(message);                       // never knows the concrete type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EmailService extends NotificationService {     // CONCRETE CREATOR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createNotification() { return new EmailNotification();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WhatsApp = write WhatsAppNotification + WhatsAppService. Zero existing files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opened.</a:t>
            </a: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is OCP: open for extension, closed for modification.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Method — Before vs. After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480560"/>
          </a:xfrm>
          <a:prstGeom prst="roundRect">
            <a:avLst>
              <a:gd name="adj" fmla="val 122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— tightly coupled to Twilio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sendDriverArrivalAlert(ride: Ride)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sms = new TwilioClient(process.env.TWILIO_SID!);  // hard dependency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sms.send(ride.student.phone, 'Your driver has arrived');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 // adding push = modify this file = OCP violation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— loose coupling via injected interface (DIP)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notifySvc: NotificationService)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sendDriverArrivalAlert(ride: Ride)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this.notifySvc.notify('Your driver has arrived');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could be Email, SMS, Push, WhatsApp — RideService does not care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724144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tests, inject a MockNotificationService — no real Twilio credentials needed.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Factory Method: Notification Channels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Notification { send(id, message, meta?): Promise&lt;void&gt;; }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PRODUCTS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PushNotification → Firebase Cloud Messaging API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SMSNotification  → Twilio messages.create()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(abstract)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NotificationService.notifyRideAccepted(ride) / notifyDriverArrival(ride)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calls this.createNotification() internally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CREATORS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PushNotificationService / SMSNotificationService override createNotification()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(container.ts) — channel chosen by config or user preference: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notifySvc = env.NOTIFY_CHANNEL === 'sms'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new SMSNotificationService() : new PushNotificationService();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WhatsApp support = 2 new classes + ONE line in container.ts.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Week-3 &amp; Part-2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2 LEARNING GOALS — By the end of Part 2,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Abstract Factory and explain how it guarantees product-family consistency.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Builder with a fluent API and explain how it solves telescoping constructors.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Compare all four creational patterns and select the right one for a given scenario.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Apply Abstract Factory and Builder to UniRide with production-grade examples.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Understand the Assignment 1 requirements and the three-step analysis formula.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Factory — The Family-Consistency Problem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</a:p>
          <a:p>
            <a:pPr marL="0" indent="0" algn="l">
              <a:buNone/>
            </a:pPr>
            <a:r>
              <a:rPr lang="en-US" sz="1600" i="1" dirty="0" err="1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Ch. 3, p. 87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UniRide’s matching algorithm has three components that MUST work together:</a:t>
            </a:r>
            <a:endParaRPr lang="en-US" sz="1600" dirty="0"/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(scores each driver) · Filter (removes unqualified) · Sorter (orders results)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using a separate factory for each: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DistanceScorer produces scores in metres, but PriceAscendingSorter expects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units. MISMATCH → runtime bug.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 SOLUTION: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= new NearestDriverMatchingFactory();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 = factory.createScorer();  </a:t>
            </a: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= factory.createFilter();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sorter = factory.createSorter();   // all three speak metres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GUARANTEES all members of the family are compatible. Swap to</a:t>
            </a:r>
            <a:r>
              <a:rPr lang="en-US" sz="1600" dirty="0"/>
              <a:t> </a:t>
            </a:r>
            <a:r>
              <a:rPr lang="en-US" sz="1600" b="1" dirty="0" err="1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HighestRatedMatchingFactory</a:t>
            </a:r>
            <a:r>
              <a:rPr lang="en-US" sz="16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three are replaced consistently. No mismatches.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Abstract Factory — a matching family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pick a style once, every piece comes out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Modern factory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makes a modern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256032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Victorian factory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makes a victorian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417320"/>
            <a:ext cx="4206240" cy="16002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24528" y="1463040"/>
            <a:ext cx="3986783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1">
                <a:solidFill>
                  <a:srgbClr val="6A6C72"/>
                </a:solidFill>
                <a:latin typeface="Calibri"/>
              </a:rPr>
              <a:t>Modern family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Modern chair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Modern sofa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520440"/>
            <a:ext cx="4206240" cy="16002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24528" y="3566160"/>
            <a:ext cx="3986783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1">
                <a:solidFill>
                  <a:srgbClr val="6A6C72"/>
                </a:solidFill>
                <a:latin typeface="Calibri"/>
              </a:rPr>
              <a:t>Victorian family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0233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Victorian chair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0233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Victorian sofa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2212848"/>
            <a:ext cx="100584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63240" y="1956816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creates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4315968"/>
            <a:ext cx="100584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3240" y="4059936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creates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97880"/>
            <a:ext cx="54864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one factory makes a matching set — never mix a modern chair with a victorian sofa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Factory — Structure (UI Factory)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663440"/>
          </a:xfrm>
          <a:prstGeom prst="roundRect">
            <a:avLst>
              <a:gd name="adj" fmla="val 1176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Button   { render(): void; }      // ABSTRACT PRODUCTS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Checkbox { check(): void;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MacButton implements Button   { render() { /* Mac */ }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MacCheckbox implements Checkbox { check() { /* Mac */ }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WinButton implements Button   { render() { /* Win */ }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WinCheckbox implements Checkbox { check() { /* Win */ }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UIFactory {                        // ABSTRACT FACTORY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createButton(): Button;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createCheckbox(): Checkbox;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MacFactory implements UIFactory { /* Mac family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WinFactory implements UIFactory { /* Win family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renderUI(f: UIFactory) {            // CLIENT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f.createButton().render(); f.createCheckbox().check();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0702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MacFactory → full Mac experience; WinFactory → full Win experience. You can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MacButton with a WinCheckbox — the factory builds the whole family.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Factory Method vs. Abstract Factory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>
              <a:latin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2384273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Creates ONE product, with the concrete type chosen by a subclass.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One-dimensional: variants of a single product type.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Test: ‘Do I create one object whose class is a subclass decision?’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Analogy: ordering ONE dish at a restaurant.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ABSTRACT FACTORY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2384273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Creates a FAMILY of related products, all consistent with each other.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Two-dimensional: families × product types.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Test: ‘Do I have multiple related products that must be used together?’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Analogy: ordering a SET MEAL — all courses from one cuisine.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Abstract Factory: Matching Strategy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754880"/>
          </a:xfrm>
          <a:prstGeom prst="roundRect">
            <a:avLst>
              <a:gd name="adj" fmla="val 115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DriverScorer { score(d: Driver, r: RideRequest): number;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DriverFilter { filter(ds: Driver[], r: RideRequest): Driver[];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ResultSorter { sort(ds: Driver[]): Driver[]; 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MatchingStrategyFactory {          // ABSTRACT FACTORY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createScorer(): DriverScorer;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createFilter(): DriverFilter;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createSorter(): ResultSorter;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NearestDriverFactory implements MatchingStrategyFactory { /* metres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HighestRatedFactory  implements MatchingStrategyFactory { /* rating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MatchingEngine {                       // CLIENT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factory: MatchingStrategyFactory)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findBestDriver(ds, req)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 = this.factory.createScorer(),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 = this.factory.createFilter();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o = this.factory.createSorter();   /* score → filter → sort */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9846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entire strategy with ONE line in container.ts. A new ‘Lowest Price’ strategy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factory + three classes. MatchingEngine.ts: zero changes.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— The Telescoping Constructor Problem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200400"/>
          </a:xfrm>
          <a:prstGeom prst="roundRect">
            <a:avLst>
              <a:gd name="adj" fmla="val 171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students write without Builder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ride = new RideRequest(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'u-123', pickup, destination,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Date('2025-06-15 09:00'),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'SUMMER20',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'economy',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true,     // accessibility required — what is this?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50.00,    // maxFare — what is this?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      // maxPassengers — what is this?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443984"/>
            <a:ext cx="813816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args are unreadable; adding an optional field changes the signature for all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</a:t>
            </a: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swap arguments 7 and 8 → a silent logic bug with no compile error.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— Concept &amp; TypeScript Notes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3, p. 97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Separate construction of a complex object from its representation, so the same process can build different representations.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return this: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setter returns this, enabling a fluent chain; TypeScript infers the subclass type correctly even when extending a builder.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Validation in build():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Setters are forgiving (accept partial state); build() enforces invariants — ‘url is required’, ‘amount must be positive’ — and returns an immutable product.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Director (optional):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Static factory methods encode common construction sequences, e.g. RideRequestBuilder.immediate(...) — the GoF ‘Director’ role in TypeScript.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Builder — assemble step by step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like ordering a custom Subway sandwich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SandwichBuilder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builds step by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103120" cy="56692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1 · add bread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103120" cy="56692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2 · add protein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017520"/>
            <a:ext cx="2103120" cy="56692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3 · add veggies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749039"/>
            <a:ext cx="2103120" cy="56692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4 · add sauce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43400" y="2121408"/>
            <a:ext cx="0" cy="164592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43400" y="2852928"/>
            <a:ext cx="0" cy="164592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43400" y="3584448"/>
            <a:ext cx="0" cy="164591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27432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2857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27500A"/>
                </a:solidFill>
                <a:latin typeface="Calibri"/>
              </a:rPr>
              <a:t>Custom sub</a:t>
            </a:r>
          </a:p>
          <a:p>
            <a:pPr algn="ctr"/>
            <a:r>
              <a:rPr sz="1000" b="0" i="1">
                <a:solidFill>
                  <a:srgbClr val="3B6D11"/>
                </a:solidFill>
                <a:latin typeface="Calibri"/>
              </a:rPr>
              <a:t>finished product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51760" y="1828800"/>
            <a:ext cx="640080" cy="11887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31720" y="2286000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runs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394960" y="3291840"/>
            <a:ext cx="914400" cy="7315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4920" y="4114800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build()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Builder: RideRequest Builder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RideRequestBuilder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forStudent(id: string): this  { this._studentId = id; 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from(p: LatLng): this         { this._pickup = p;     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to(d: LatLng): this           { this._destination = d;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scheduledAt(date: Date): this { this._scheduledAt = date;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vehicleType(t): this          { this._vehicleType = t;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requiresAccessibility(): this { this._accessibility = true;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maxFare(bdt: number): this    { this._maxFare = bdt;   return this;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build(): RideRequest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(!this._studentId)   throw new Error('studentId is required');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(this._maxFare &amp;&amp; this._maxFare &lt;= 0)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Error('maxFare must be positive');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RideRequest(/* validated fields */);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reads like English: new RideRequestBuilder().</a:t>
            </a:r>
            <a:r>
              <a:rPr lang="en-US" sz="1100" b="1" dirty="0">
                <a:solidFill>
                  <a:srgbClr val="1E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forStudent('u-456').from(GATE) </a:t>
            </a: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.to(AIRPORT).vehicleType('xl').requiresAccessibility().maxFare(800).build();</a:t>
            </a:r>
            <a:endParaRPr lang="en-US" sz="11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Builder in the Wild — You Already Use It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knex.js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knex('rides').where('status','active').orderBy('created_at','desc').limit(20) — each method builds part of the SQL query.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0016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91456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91456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Jest matchers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46320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expect(result).toHaveBeenCalledWith(expect.objectContaining({ status: 'active' })) — each matcher is a builder step.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4360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Mongoose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9224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new Schema({ name: String }).index({ name: 1 }).plugin(timestamps) — a fluent schema builder.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00016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91456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91456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axios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/ lodash / RxJS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46320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fluent chain you have used is the Builder pattern in disguise — now you can build your own.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Creational Patterns — When to Use Which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07FA65-7342-9034-8546-6122427CA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593376"/>
              </p:ext>
            </p:extLst>
          </p:nvPr>
        </p:nvGraphicFramePr>
        <p:xfrm>
          <a:off x="902617" y="1352504"/>
          <a:ext cx="7308696" cy="4530079"/>
        </p:xfrm>
        <a:graphic>
          <a:graphicData uri="http://schemas.openxmlformats.org/drawingml/2006/table">
            <a:tbl>
              <a:tblPr/>
              <a:tblGrid>
                <a:gridCol w="1405518">
                  <a:extLst>
                    <a:ext uri="{9D8B030D-6E8A-4147-A177-3AD203B41FA5}">
                      <a16:colId xmlns:a16="http://schemas.microsoft.com/office/drawing/2014/main" val="2354441155"/>
                    </a:ext>
                  </a:extLst>
                </a:gridCol>
                <a:gridCol w="1483603">
                  <a:extLst>
                    <a:ext uri="{9D8B030D-6E8A-4147-A177-3AD203B41FA5}">
                      <a16:colId xmlns:a16="http://schemas.microsoft.com/office/drawing/2014/main" val="2963917411"/>
                    </a:ext>
                  </a:extLst>
                </a:gridCol>
                <a:gridCol w="1483603">
                  <a:extLst>
                    <a:ext uri="{9D8B030D-6E8A-4147-A177-3AD203B41FA5}">
                      <a16:colId xmlns:a16="http://schemas.microsoft.com/office/drawing/2014/main" val="2576219167"/>
                    </a:ext>
                  </a:extLst>
                </a:gridCol>
                <a:gridCol w="1467986">
                  <a:extLst>
                    <a:ext uri="{9D8B030D-6E8A-4147-A177-3AD203B41FA5}">
                      <a16:colId xmlns:a16="http://schemas.microsoft.com/office/drawing/2014/main" val="4265367021"/>
                    </a:ext>
                  </a:extLst>
                </a:gridCol>
                <a:gridCol w="1467986">
                  <a:extLst>
                    <a:ext uri="{9D8B030D-6E8A-4147-A177-3AD203B41FA5}">
                      <a16:colId xmlns:a16="http://schemas.microsoft.com/office/drawing/2014/main" val="705310825"/>
                    </a:ext>
                  </a:extLst>
                </a:gridCol>
              </a:tblGrid>
              <a:tr h="276284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Criterion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Singleton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Factory Method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Abstract Factory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Builder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445182"/>
                  </a:ext>
                </a:extLst>
              </a:tr>
              <a:tr h="276284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Criterion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Singleton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Factory Method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Abstract Factory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Builder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552794"/>
                  </a:ext>
                </a:extLst>
              </a:tr>
              <a:tr h="618635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Intent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One instance, global access.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Subclass decides which class to create.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Consistent family of related objects.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Step-by-step complex object construction.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9041"/>
                  </a:ext>
                </a:extLst>
              </a:tr>
              <a:tr h="618635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Number of products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One (the instance itself).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One product type, many variants.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Multiple product types, grouped into families.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One complex product, assembled from parts.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297638"/>
                  </a:ext>
                </a:extLst>
              </a:tr>
              <a:tr h="618635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Extensibility trigger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Rarely needs extension — the point is ONE.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Add a new concrete subclass + creator subclass.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Add a new concrete factory class for the new family.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Add a new setter method and private field.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08969"/>
                  </a:ext>
                </a:extLst>
              </a:tr>
              <a:tr h="618635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OCP compliance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Not directly — the singleton IS the extension.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High — new product = new file, zero old file changes.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High — new family = new factory, zero consumer changes.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High — new option = new setter, zero callers break.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96224"/>
                  </a:ext>
                </a:extLst>
              </a:tr>
              <a:tr h="789811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UniRide use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DB connection pool — one pool, always.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Notification channels: Push, SMS, Email, WhatsApp.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Matching strategies: NearestDriver, HighestRated, etc.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RideRequest construction with optional fields.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3633"/>
                  </a:ext>
                </a:extLst>
              </a:tr>
              <a:tr h="618635"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Anti-pattern warning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Global mutable state — disguised global variable.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Too many subclasses — use config instead.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Factory explosion — too many families × products.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effectLst/>
                          <a:latin typeface="Cambria" panose="02040503050406030204" pitchFamily="18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Builder for simple 2-3 field objects — overkill.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Arial" panose="020B0604020202020204" pitchFamily="34" charset="0"/>
                        <a:cs typeface="Vrinda" panose="020B0502040204020203" pitchFamily="34" charset="0"/>
                      </a:endParaRPr>
                    </a:p>
                  </a:txBody>
                  <a:tcPr marL="57150" marR="50800" marT="44450" marB="4445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242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Flowchart — Ask in Order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Q1  Do I need exactly ONE instance shared everywhere?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YES → Singleton (or a DI-scoped singleton)        NO → Q2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Q2  Does the object have 4+ fields (many optional) or multi-step construction?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YES → Builder                                      NO → Q3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Q3  Do I need MULTIPLE related objects that must stay consistent (a family)?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YES → Abstract Factory                             NO → Q4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Q4  One object type, but the class is a subclass/config decision and will grow?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YES → Factory Method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  → a plain constructor with TypeScript defaults — no pattern needed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i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This flowchart is the method for Assignment 1 — apply it to the fintech scenario.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1 — Creational Pattern Analysis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Due end of Week 3  ·  Individual  ·  1,200–1,800 words  </a:t>
            </a:r>
            <a:r>
              <a:rPr lang="en-US" sz="1400" b="1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·  5</a:t>
            </a: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% of mid-term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SCENARIO: A fintech config module must create different database connection objects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(PostgreSQL, MySQL, MongoDB) and support new DB types WITHOUT modifying existing code.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Intro → Pattern descriptions (all 3, in your own words) → Comparative analysis +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table → Recommendation + trade-off + UML → Conclusion → References (3, APA)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Answer: Factory Method.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Singleton gives ONE instance (scenario needs multiple types); Abstract Factory is for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FAMILIES of products (here there is one product type — a connection).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Common mistakes: choosing Abstract Factory or Singleton; copying </a:t>
            </a:r>
            <a:r>
              <a:rPr lang="en-US" sz="1400" b="1" dirty="0" err="1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GoF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definitions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verbatim; omitting the UML sketch or the trade-off (more subclasses per new type).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Week 3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4081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408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44168" y="1225296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patterns separate object creation from use — they break the new coupling trap.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46888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4168" y="2286000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private constructor + private static instance + public getInstance(); beware global state.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" y="352958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44168" y="3346704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Method: subclasses decide the product — add a type by adding a class (OCP).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44168" y="4407408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Factory: one factory builds a consistent FAMILY of related objects.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5650992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44168" y="5468112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Builder: a fluent, validated API for complex objects with many optional fields.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Reading &amp; References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1207008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0" y="1207008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Patterns: Elements of Reusable OO Software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Helm, Johnson, Vlissides (1994)  ·  Ch. 3, pp. 87–162  ·  all creational patterns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542032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HFDP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91640" y="2542032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0" y="2542032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First Design Patterns, 2nd ed.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&amp; Robson (2020)  ·  Ch. 4–5  ·  Factory Method &amp; Abstract Factory (pizza example)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3877056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691640" y="3877056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28800" y="3877056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C. Martin (2017)  ·  Ch. 14  ·  Component cohesion; why Singleton can be a smell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2120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R.Guru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691640" y="5212080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0" y="5212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 — Design Patterns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refactoring.guru/design-patterns (free)  ·  diagrams, walkthroughs, pros/cons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4397</Words>
  <Application>Microsoft Macintosh PowerPoint</Application>
  <PresentationFormat>On-screen Show (4:3)</PresentationFormat>
  <Paragraphs>535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AIUB — Dept.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Software Architecture &amp; Design Patterns</dc:subject>
  <dc:creator>MD. Al-Amin</dc:creator>
  <cp:lastModifiedBy>Md Al Amin</cp:lastModifiedBy>
  <cp:revision>65</cp:revision>
  <dcterms:created xsi:type="dcterms:W3CDTF">2026-06-11T11:40:34Z</dcterms:created>
  <dcterms:modified xsi:type="dcterms:W3CDTF">2026-06-28T19:02:09Z</dcterms:modified>
</cp:coreProperties>
</file>