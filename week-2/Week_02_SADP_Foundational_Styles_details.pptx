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9" r:id="rId10"/>
    <p:sldId id="264" r:id="rId11"/>
    <p:sldId id="265" r:id="rId12"/>
    <p:sldId id="266" r:id="rId13"/>
    <p:sldId id="267" r:id="rId14"/>
    <p:sldId id="268" r:id="rId15"/>
    <p:sldId id="269" r:id="rId16"/>
    <p:sldId id="282" r:id="rId17"/>
    <p:sldId id="280" r:id="rId18"/>
    <p:sldId id="281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88" r:id="rId29"/>
    <p:sldId id="283" r:id="rId30"/>
    <p:sldId id="284" r:id="rId31"/>
    <p:sldId id="285" r:id="rId32"/>
    <p:sldId id="286" r:id="rId33"/>
    <p:sldId id="287" r:id="rId34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492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103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27257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17320"/>
          </a:xfrm>
          <a:prstGeom prst="rect">
            <a:avLst/>
          </a:prstGeom>
          <a:solidFill>
            <a:srgbClr val="2022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0" y="0"/>
            <a:ext cx="5486400" cy="1417320"/>
          </a:xfrm>
          <a:prstGeom prst="rect">
            <a:avLst/>
          </a:prstGeom>
          <a:solidFill>
            <a:srgbClr val="3C3F4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256032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201168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Foundational Architectural Styles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Code: CSC 4273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0" y="1417320"/>
            <a:ext cx="9144000" cy="64008"/>
          </a:xfrm>
          <a:prstGeom prst="rect">
            <a:avLst/>
          </a:prstGeom>
          <a:solidFill>
            <a:srgbClr val="0070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02920" y="18745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428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Dept. of Computer Science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2428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Faculty of Science and Technology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02920" y="288036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142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Title: SOFTWARE ARCHITECTURE &amp; DESIGN PATTERN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892040"/>
          <a:ext cx="8138160" cy="76809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Lecturer No: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8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No: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8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Semester: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8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Summer 25-26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Lecturer: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8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MD. Al-Amin &lt;alamin@aiub.edu&gt;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 Outline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02920" y="1188720"/>
            <a:ext cx="8138160" cy="5239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Foundational styles: Layered (N-Tier), MVC, Client–Server</a:t>
            </a:r>
            <a:endParaRPr lang="en-US" sz="18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MVC and its variants — MVP and MVVM</a:t>
            </a:r>
            <a:endParaRPr lang="en-US" sz="18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The C4 model — four levels of architectural zoom</a:t>
            </a:r>
            <a:endParaRPr lang="en-US" sz="18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Monolith vs. Service-Oriented / Microservices — trade-offs</a:t>
            </a:r>
            <a:endParaRPr lang="en-US" sz="18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Case study &amp; in-class exercise: a C4 Context diagram for UniRide</a:t>
            </a:r>
            <a:endParaRPr lang="en-US" sz="18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Week-2 &amp; Part-1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02920" y="1188720"/>
            <a:ext cx="8138160" cy="5239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PART 1 LEARNING GOALS — By the end of Part 1, you will be able to:</a:t>
            </a:r>
            <a:endParaRPr lang="en-US" sz="15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Explain what an architectural style is and why it is a structural decision.</a:t>
            </a:r>
            <a:endParaRPr lang="en-US" sz="15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Draw and label a 4-layer N-Tier architecture with correct dependency direction.</a:t>
            </a:r>
            <a:endParaRPr lang="en-US" sz="15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Identify the three participants in MVC and explain the data flow between them.</a:t>
            </a:r>
            <a:endParaRPr lang="en-US" sz="15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Distinguish MVC from MVP and MVVM and name a real framework for each.</a:t>
            </a:r>
            <a:endParaRPr lang="en-US" sz="15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Explain the four C4 levels and draw a C4 Level 1 Context diagram for UniRide.</a:t>
            </a:r>
            <a:endParaRPr lang="en-US" sz="15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PROJECT — UniRide: Week 2 Context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133856"/>
            <a:ext cx="8138160" cy="5266944"/>
          </a:xfrm>
          <a:prstGeom prst="roundRect">
            <a:avLst>
              <a:gd name="adj" fmla="val 104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1261872"/>
            <a:ext cx="7772400" cy="5010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Last week we defined what architecture is, applied SOLID principles, and set</a:t>
            </a:r>
            <a:r>
              <a:rPr lang="en-US" sz="1400" dirty="0">
                <a:latin typeface="Cambria" panose="02040503050406030204" pitchFamily="18" charset="0"/>
              </a:rPr>
              <a:t> </a:t>
            </a: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quality-attribute targets for UniRide. This week we answer the first major</a:t>
            </a:r>
            <a:r>
              <a:rPr lang="en-US" sz="1400" dirty="0">
                <a:latin typeface="Cambria" panose="02040503050406030204" pitchFamily="18" charset="0"/>
              </a:rPr>
              <a:t> </a:t>
            </a: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structural question:</a:t>
            </a:r>
          </a:p>
          <a:p>
            <a:pPr marL="0" indent="0">
              <a:lnSpc>
                <a:spcPct val="102000"/>
              </a:lnSpc>
              <a:buNone/>
            </a:pP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“HOW SHOULD UNIRIDE BE ORGANISED AT THE HIGHEST LEVEL?”</a:t>
            </a:r>
          </a:p>
          <a:p>
            <a:pPr marL="0" indent="0">
              <a:lnSpc>
                <a:spcPct val="102000"/>
              </a:lnSpc>
              <a:spcAft>
                <a:spcPts val="1200"/>
              </a:spcAft>
              <a:buNone/>
            </a:pP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By the end of Part 1 you will have:</a:t>
            </a:r>
            <a:endParaRPr lang="en-US" sz="1400" dirty="0">
              <a:latin typeface="Cambria" panose="02040503050406030204" pitchFamily="18" charset="0"/>
            </a:endParaRPr>
          </a:p>
          <a:p>
            <a:pPr marL="685800" lvl="1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Applied the N-Tier layered model to UniRide’s backend API structure</a:t>
            </a:r>
            <a:endParaRPr lang="en-US" sz="1400" dirty="0">
              <a:latin typeface="Cambria" panose="02040503050406030204" pitchFamily="18" charset="0"/>
            </a:endParaRPr>
          </a:p>
          <a:p>
            <a:pPr marL="685800" lvl="1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Mapped UniRide’s Express.js backend onto the MVC pattern</a:t>
            </a:r>
            <a:endParaRPr lang="en-US" sz="1400" dirty="0">
              <a:latin typeface="Cambria" panose="02040503050406030204" pitchFamily="18" charset="0"/>
            </a:endParaRPr>
          </a:p>
          <a:p>
            <a:pPr marL="685800" lvl="1" indent="-3429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Drawn UniRide’s first C4 Level 1 Context diagram (in-class exercise)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By the end of Part 2 you will have:</a:t>
            </a:r>
            <a:endParaRPr lang="en-US" sz="1400" dirty="0">
              <a:latin typeface="Cambria" panose="02040503050406030204" pitchFamily="18" charset="0"/>
            </a:endParaRPr>
          </a:p>
          <a:p>
            <a:pPr marL="685800" lvl="1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Seen the TypeScript code for layered architecture and MVC applied to UniRide</a:t>
            </a:r>
            <a:endParaRPr lang="en-US" sz="1400" dirty="0">
              <a:latin typeface="Cambria" panose="02040503050406030204" pitchFamily="18" charset="0"/>
            </a:endParaRPr>
          </a:p>
          <a:p>
            <a:pPr marL="685800" lvl="1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Made and documented the Monolith vs. Microservices decision for UniRide</a:t>
            </a:r>
            <a:endParaRPr lang="en-US" sz="14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Architectural Style?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02920" y="1188720"/>
            <a:ext cx="8138160" cy="5239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Definition: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 named, well-understood pattern of organising a system’s components, their relationships, and the constraints that govern them — a blueprint template, not a specific solution.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Analogy: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Buildings have recognised styles (Georgian, Modernist, Brutalist). Software has recognised styles: Layered, MVC, Microservices, Event-Driven, Serverless.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Why it matters: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Choosing a style is one of the first and most consequential architectural decisions — it shapes team structure, deployment, and the data model for years.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Today’s three: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N-Tier Layered (the backbone of most backends), MVC (inside almost every web/mobile framework), and C4 (the modern language for communicating architecture).</a:t>
            </a:r>
            <a:endParaRPr lang="en-US" sz="155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anose="02040503050406030204" pitchFamily="18" charset="0"/>
                <a:ea typeface="Cambria" pitchFamily="34" charset="-122"/>
                <a:cs typeface="Cambria" pitchFamily="34" charset="-120"/>
              </a:rPr>
              <a:t>N-Tier Layered Architecture</a:t>
            </a:r>
            <a:r>
              <a:rPr lang="en-US" sz="1600" i="1" dirty="0">
                <a:solidFill>
                  <a:srgbClr val="C9CCD6"/>
                </a:solidFill>
                <a:latin typeface="Cambria" panose="02040503050406030204" pitchFamily="18" charset="0"/>
                <a:ea typeface="Cambria" pitchFamily="34" charset="-122"/>
                <a:cs typeface="Cambria" pitchFamily="34" charset="-120"/>
              </a:rPr>
              <a:t>  The Classic Workhorse</a:t>
            </a:r>
            <a:endParaRPr lang="en-US" sz="2500" dirty="0">
              <a:latin typeface="Cambria" panose="020405030504060302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243584"/>
            <a:ext cx="8138160" cy="1126998"/>
          </a:xfrm>
          <a:prstGeom prst="roundRect">
            <a:avLst>
              <a:gd name="adj" fmla="val 405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04088" y="1243584"/>
            <a:ext cx="7772400" cy="11269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500" dirty="0">
              <a:latin typeface="Cambria" panose="02040503050406030204" pitchFamily="18" charset="0"/>
            </a:endParaRPr>
          </a:p>
          <a:p>
            <a:pPr marL="0" indent="0">
              <a:lnSpc>
                <a:spcPct val="98000"/>
              </a:lnSpc>
              <a:buNone/>
            </a:pPr>
            <a:r>
              <a:rPr lang="en-US" sz="1150" i="1" dirty="0">
                <a:solidFill>
                  <a:srgbClr val="EAEEF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HTTP controllers, REST endpoints, GraphQL resolvers, React Native screens</a:t>
            </a:r>
            <a:endParaRPr lang="en-US" sz="1500" dirty="0">
              <a:latin typeface="Cambria" panose="020405030504060302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02920" y="2370582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1424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↓  depends on</a:t>
            </a:r>
            <a:endParaRPr lang="en-US" sz="1050" dirty="0">
              <a:latin typeface="Cambria" panose="020405030504060302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02920" y="2571750"/>
            <a:ext cx="8138160" cy="1126998"/>
          </a:xfrm>
          <a:prstGeom prst="roundRect">
            <a:avLst>
              <a:gd name="adj" fmla="val 4057"/>
            </a:avLst>
          </a:prstGeom>
          <a:solidFill>
            <a:srgbClr val="2F6DB5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04088" y="2571750"/>
            <a:ext cx="7772400" cy="11269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Application / Business Logic Layer</a:t>
            </a:r>
            <a:endParaRPr lang="en-US" sz="1500" dirty="0">
              <a:latin typeface="Cambria" panose="02040503050406030204" pitchFamily="18" charset="0"/>
            </a:endParaRPr>
          </a:p>
          <a:p>
            <a:pPr marL="0" indent="0">
              <a:lnSpc>
                <a:spcPct val="98000"/>
              </a:lnSpc>
              <a:buNone/>
            </a:pPr>
            <a:r>
              <a:rPr lang="en-US" sz="1150" i="1" dirty="0">
                <a:solidFill>
                  <a:srgbClr val="EAEEF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Use cases, domain services, validation, orchestration — the brain of the system</a:t>
            </a:r>
            <a:endParaRPr lang="en-US" sz="1500" dirty="0">
              <a:latin typeface="Cambria" panose="020405030504060302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02920" y="3698748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1424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↓  depends on</a:t>
            </a:r>
            <a:endParaRPr lang="en-US" sz="1050" dirty="0">
              <a:latin typeface="Cambria" panose="020405030504060302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02920" y="3899916"/>
            <a:ext cx="8138160" cy="1126998"/>
          </a:xfrm>
          <a:prstGeom prst="roundRect">
            <a:avLst>
              <a:gd name="adj" fmla="val 4057"/>
            </a:avLst>
          </a:prstGeom>
          <a:solidFill>
            <a:srgbClr val="242852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04088" y="3899916"/>
            <a:ext cx="7772400" cy="11269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Data Access Layer</a:t>
            </a:r>
            <a:endParaRPr lang="en-US" sz="1500" dirty="0">
              <a:latin typeface="Cambria" panose="02040503050406030204" pitchFamily="18" charset="0"/>
            </a:endParaRPr>
          </a:p>
          <a:p>
            <a:pPr marL="0" indent="0">
              <a:lnSpc>
                <a:spcPct val="98000"/>
              </a:lnSpc>
              <a:buNone/>
            </a:pPr>
            <a:r>
              <a:rPr lang="en-US" sz="1150" i="1" dirty="0">
                <a:solidFill>
                  <a:srgbClr val="EAEEF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Repositories, ORM queries, data mappers — domain objects ↔ database rows</a:t>
            </a:r>
            <a:endParaRPr lang="en-US" sz="1500" dirty="0">
              <a:latin typeface="Cambria" panose="020405030504060302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02920" y="5026914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1424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↓  depends on</a:t>
            </a:r>
            <a:endParaRPr lang="en-US" sz="1050" dirty="0">
              <a:latin typeface="Cambria" panose="020405030504060302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502920" y="5228082"/>
            <a:ext cx="8138160" cy="1126998"/>
          </a:xfrm>
          <a:prstGeom prst="roundRect">
            <a:avLst>
              <a:gd name="adj" fmla="val 4057"/>
            </a:avLst>
          </a:prstGeom>
          <a:solidFill>
            <a:srgbClr val="50808E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704088" y="5228082"/>
            <a:ext cx="7772400" cy="11269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Database / Infrastructure Layer</a:t>
            </a:r>
            <a:endParaRPr lang="en-US" sz="1500" dirty="0">
              <a:latin typeface="Cambria" panose="02040503050406030204" pitchFamily="18" charset="0"/>
            </a:endParaRPr>
          </a:p>
          <a:p>
            <a:pPr marL="0" indent="0">
              <a:lnSpc>
                <a:spcPct val="98000"/>
              </a:lnSpc>
              <a:buNone/>
            </a:pPr>
            <a:r>
              <a:rPr lang="en-US" sz="1150" i="1" dirty="0">
                <a:solidFill>
                  <a:srgbClr val="EAEEF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PostgreSQL, Redis, external APIs, queues — persistence and integration tier</a:t>
            </a:r>
            <a:endParaRPr lang="en-US" sz="15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anose="02040503050406030204" pitchFamily="18" charset="0"/>
                <a:ea typeface="Cambria" pitchFamily="34" charset="-122"/>
                <a:cs typeface="Cambria" pitchFamily="34" charset="-120"/>
              </a:rPr>
              <a:t>The Golden Rule — Dependency Direction</a:t>
            </a:r>
            <a:endParaRPr lang="en-US" sz="2500" dirty="0">
              <a:latin typeface="Cambria" panose="020405030504060302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207008"/>
            <a:ext cx="3931920" cy="457200"/>
          </a:xfrm>
          <a:prstGeom prst="roundRect">
            <a:avLst>
              <a:gd name="adj" fmla="val 10000"/>
            </a:avLst>
          </a:prstGeom>
          <a:solidFill>
            <a:srgbClr val="2E7D46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ALLOWED  (downward only)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02920" y="1755648"/>
            <a:ext cx="3931920" cy="2555095"/>
          </a:xfrm>
          <a:prstGeom prst="roundRect">
            <a:avLst>
              <a:gd name="adj" fmla="val 930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30936" y="1865376"/>
            <a:ext cx="3675888" cy="4416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Presentation → Application (Controller calls a Service)</a:t>
            </a:r>
            <a:endParaRPr lang="en-US" sz="14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Application → Data Access (Service calls a Repository)</a:t>
            </a:r>
            <a:endParaRPr lang="en-US" sz="14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Data Access → Database (Repository runs a SQL query)</a:t>
            </a:r>
            <a:endParaRPr lang="en-US" sz="14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Each layer can be tested, replaced, and understood independently.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709160" y="1207008"/>
            <a:ext cx="3931920" cy="457200"/>
          </a:xfrm>
          <a:prstGeom prst="roundRect">
            <a:avLst>
              <a:gd name="adj" fmla="val 10000"/>
            </a:avLst>
          </a:prstGeom>
          <a:solidFill>
            <a:srgbClr val="B03A36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709160" y="120700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FORBIDDEN  (upward / skipping)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709160" y="1755648"/>
            <a:ext cx="3931920" cy="2555095"/>
          </a:xfrm>
          <a:prstGeom prst="roundRect">
            <a:avLst>
              <a:gd name="adj" fmla="val 930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837176" y="1865376"/>
            <a:ext cx="3675888" cy="4416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Application → Presentation (a Service imports an HTTP Request)</a:t>
            </a:r>
            <a:endParaRPr lang="en-US" sz="14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Database → Application (a SQL trigger calls business logic)</a:t>
            </a:r>
            <a:endParaRPr lang="en-US" sz="14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Presentation → Database (a Controller runs SQL directly)</a:t>
            </a:r>
            <a:endParaRPr lang="en-US" sz="14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Two-way dependencies = spaghetti architecture that kills maintainability.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16887" y="6073324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41424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Dependencies ONLY flow downward — never upward, never skipping a layer.</a:t>
            </a:r>
            <a:endParaRPr lang="en-US" sz="115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Layering Violations to Avoid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133856"/>
            <a:ext cx="8138160" cy="4114800"/>
          </a:xfrm>
          <a:prstGeom prst="roundRect">
            <a:avLst>
              <a:gd name="adj" fmla="val 1333"/>
            </a:avLst>
          </a:prstGeom>
          <a:solidFill>
            <a:srgbClr val="F5F5F7"/>
          </a:solidFill>
          <a:ln w="12700">
            <a:solidFill>
              <a:srgbClr val="D9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67512" y="1225296"/>
            <a:ext cx="7808976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VIOLATION 1 — Controller runs SQL directly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router.get('/ride/:id', async (req, res) =&gt; {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ride = await db.query('SELECT * FROM rides WHERE id=$1', [req.params.id]);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res.json(ride);   // No Service, no Repository — untestable without a real DB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VIOLATION 2 — Service imports the Express Request object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RideService {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async createRide(req: Request) { ... }  // HTTP leaks into business logic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VIOLATION 3 — Skipping the Service layer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 → Repository directly  // bypasses validation &amp; business rules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5358384"/>
            <a:ext cx="813816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Controller → Service → Repository → Database. Pass plain data (userId, from, to),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framework objects. Every skipped layer is a security and consistency risk.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Layered Architecture in TypeScript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133856"/>
            <a:ext cx="8138160" cy="4572000"/>
          </a:xfrm>
          <a:prstGeom prst="roundRect">
            <a:avLst>
              <a:gd name="adj" fmla="val 1200"/>
            </a:avLst>
          </a:prstGeom>
          <a:solidFill>
            <a:srgbClr val="F5F5F7"/>
          </a:solidFill>
          <a:ln w="12700">
            <a:solidFill>
              <a:srgbClr val="D9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67512" y="1225296"/>
            <a:ext cx="7808976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7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DATA ACCESS LAYER — contract first, no SQL leaks upward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UserRepository {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findById(id: string): Promise&lt;User | null&gt;;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save(user: User): Promise&lt;void&gt;;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PostgresUserRepo implements UserRepository { /* SQL here only */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7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BUSINESS LOGIC LAYER — receives the interface (DIP), not the concrete class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UserService {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constructor(private repo: UserRepository) {}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getUser(id: string) { return this.repo.findById(id);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7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PRESENTATION LAYER — HTTP in, data out; no SQL, no business rules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UserController {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constructor(private service: UserService) {}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handleGet = (req, res) =&gt; res.json(this.service.getUser(req.params.id));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5815584"/>
            <a:ext cx="813816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→ Service → Repository → Database. Swap PostgreSQL for Mongo by writing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MongoUserRepo — nothing above it changes. That is DIP and clean layering combined.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UniRide — The Four Layers in Practice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133856"/>
            <a:ext cx="8138160" cy="5266944"/>
          </a:xfrm>
          <a:prstGeom prst="roundRect">
            <a:avLst>
              <a:gd name="adj" fmla="val 104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1261872"/>
            <a:ext cx="7772400" cy="5010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7293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PRESENTATION LAYER  (src/controllers/ + src/routes/)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mbria" panose="02040503050406030204" pitchFamily="18" charset="0"/>
                <a:ea typeface="Consolas" pitchFamily="34" charset="-122"/>
                <a:cs typeface="Consolas" pitchFamily="34" charset="-120"/>
              </a:rPr>
              <a:t>RideController.ts   — POST /rides, GET /rides/:id, PATCH /rides/:id/cancel</a:t>
            </a:r>
            <a:endParaRPr lang="en-US" sz="1400" dirty="0">
              <a:latin typeface="Cambria" panose="02040503050406030204" pitchFamily="18" charset="0"/>
            </a:endParaRP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lang="en-US" sz="1200" dirty="0">
                <a:solidFill>
                  <a:srgbClr val="1A1A1A"/>
                </a:solidFill>
                <a:latin typeface="Cambria" panose="02040503050406030204" pitchFamily="18" charset="0"/>
                <a:ea typeface="Consolas" pitchFamily="34" charset="-122"/>
                <a:cs typeface="Consolas" pitchFamily="34" charset="-120"/>
              </a:rPr>
              <a:t>DriverController.ts — GET /drivers/nearby, PATCH /drivers/availability</a:t>
            </a:r>
            <a:br>
              <a:rPr lang="en-US" sz="1200" dirty="0">
                <a:solidFill>
                  <a:srgbClr val="1A1A1A"/>
                </a:solidFill>
                <a:latin typeface="Cambria" panose="02040503050406030204" pitchFamily="18" charset="0"/>
                <a:ea typeface="Consolas" pitchFamily="34" charset="-122"/>
                <a:cs typeface="Consolas" pitchFamily="34" charset="-120"/>
              </a:rPr>
            </a:br>
            <a:r>
              <a:rPr lang="en-US" sz="1200" dirty="0" err="1">
                <a:solidFill>
                  <a:srgbClr val="1A1A1A"/>
                </a:solidFill>
                <a:latin typeface="Cambria" panose="02040503050406030204" pitchFamily="18" charset="0"/>
                <a:ea typeface="Consolas" pitchFamily="34" charset="-122"/>
                <a:cs typeface="Consolas" pitchFamily="34" charset="-120"/>
              </a:rPr>
              <a:t>AuthController.ts</a:t>
            </a:r>
            <a:r>
              <a:rPr lang="en-US" sz="1200" dirty="0">
                <a:solidFill>
                  <a:srgbClr val="1A1A1A"/>
                </a:solidFill>
                <a:latin typeface="Cambria" panose="02040503050406030204" pitchFamily="18" charset="0"/>
                <a:ea typeface="Consolas" pitchFamily="34" charset="-122"/>
                <a:cs typeface="Consolas" pitchFamily="34" charset="-120"/>
              </a:rPr>
              <a:t>      — handles POST /auth/login, POST /auth/refresh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1400" i="1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Controllers parse the request, call a service, return a response — never run SQL.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endParaRPr lang="en-US" sz="1400" b="1" dirty="0">
              <a:solidFill>
                <a:srgbClr val="2F6DB5"/>
              </a:solidFill>
              <a:latin typeface="Cambria" panose="02040503050406030204" pitchFamily="18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F6DB5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APPLICATION LAYER  (src/services/)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200" dirty="0" err="1">
                <a:latin typeface="Cambria" panose="02040503050406030204" pitchFamily="18" charset="0"/>
              </a:rPr>
              <a:t>RideService.ts</a:t>
            </a:r>
            <a:r>
              <a:rPr lang="en-US" sz="1200" dirty="0">
                <a:latin typeface="Cambria" panose="02040503050406030204" pitchFamily="18" charset="0"/>
              </a:rPr>
              <a:t>         — </a:t>
            </a:r>
            <a:r>
              <a:rPr lang="en-US" sz="1200" dirty="0" err="1">
                <a:latin typeface="Cambria" panose="02040503050406030204" pitchFamily="18" charset="0"/>
              </a:rPr>
              <a:t>createRide</a:t>
            </a:r>
            <a:r>
              <a:rPr lang="en-US" sz="1200" dirty="0">
                <a:latin typeface="Cambria" panose="02040503050406030204" pitchFamily="18" charset="0"/>
              </a:rPr>
              <a:t>(), </a:t>
            </a:r>
            <a:r>
              <a:rPr lang="en-US" sz="1200" dirty="0" err="1">
                <a:latin typeface="Cambria" panose="02040503050406030204" pitchFamily="18" charset="0"/>
              </a:rPr>
              <a:t>cancelRide</a:t>
            </a:r>
            <a:r>
              <a:rPr lang="en-US" sz="1200" dirty="0">
                <a:latin typeface="Cambria" panose="02040503050406030204" pitchFamily="18" charset="0"/>
              </a:rPr>
              <a:t>(), </a:t>
            </a:r>
            <a:r>
              <a:rPr lang="en-US" sz="1200" dirty="0" err="1">
                <a:latin typeface="Cambria" panose="02040503050406030204" pitchFamily="18" charset="0"/>
              </a:rPr>
              <a:t>completeRide</a:t>
            </a:r>
            <a:r>
              <a:rPr lang="en-US" sz="1200" dirty="0">
                <a:latin typeface="Cambria" panose="02040503050406030204" pitchFamily="18" charset="0"/>
              </a:rPr>
              <a:t>(), </a:t>
            </a:r>
            <a:r>
              <a:rPr lang="en-US" sz="1200" dirty="0" err="1">
                <a:latin typeface="Cambria" panose="02040503050406030204" pitchFamily="18" charset="0"/>
              </a:rPr>
              <a:t>getRideById</a:t>
            </a:r>
            <a:r>
              <a:rPr lang="en-US" sz="1200" dirty="0">
                <a:latin typeface="Cambria" panose="02040503050406030204" pitchFamily="18" charset="0"/>
              </a:rPr>
              <a:t>()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lang="en-US" sz="1200" dirty="0" err="1">
                <a:latin typeface="Cambria" panose="02040503050406030204" pitchFamily="18" charset="0"/>
              </a:rPr>
              <a:t>MatchingService.ts</a:t>
            </a:r>
            <a:r>
              <a:rPr lang="en-US" sz="1200" dirty="0">
                <a:latin typeface="Cambria" panose="02040503050406030204" pitchFamily="18" charset="0"/>
              </a:rPr>
              <a:t>     — </a:t>
            </a:r>
            <a:r>
              <a:rPr lang="en-US" sz="1200" dirty="0" err="1">
                <a:latin typeface="Cambria" panose="02040503050406030204" pitchFamily="18" charset="0"/>
              </a:rPr>
              <a:t>findBestAvailableDriver</a:t>
            </a:r>
            <a:r>
              <a:rPr lang="en-US" sz="1200" dirty="0">
                <a:latin typeface="Cambria" panose="02040503050406030204" pitchFamily="18" charset="0"/>
              </a:rPr>
              <a:t>(request: </a:t>
            </a:r>
            <a:r>
              <a:rPr lang="en-US" sz="1200" dirty="0" err="1">
                <a:latin typeface="Cambria" panose="02040503050406030204" pitchFamily="18" charset="0"/>
              </a:rPr>
              <a:t>RideRequest</a:t>
            </a:r>
            <a:r>
              <a:rPr lang="en-US" sz="1200" dirty="0">
                <a:latin typeface="Cambria" panose="02040503050406030204" pitchFamily="18" charset="0"/>
              </a:rPr>
              <a:t>)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1400" i="1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All business rules live here (is the driver available? is payment valid?).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endParaRPr lang="en-US" sz="1400" b="1" dirty="0">
              <a:solidFill>
                <a:srgbClr val="242852"/>
              </a:solidFill>
              <a:latin typeface="Cambria" panose="02040503050406030204" pitchFamily="18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DATA ACCESS LAYER  (src/repositories/)</a:t>
            </a:r>
            <a:endParaRPr lang="en-US" sz="1400" dirty="0">
              <a:latin typeface="Cambria" panose="02040503050406030204" pitchFamily="18" charset="0"/>
            </a:endParaRP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lang="en-US" sz="1200" dirty="0" err="1">
                <a:latin typeface="Cambria" panose="02040503050406030204" pitchFamily="18" charset="0"/>
              </a:rPr>
              <a:t>RideRepository.ts</a:t>
            </a:r>
            <a:r>
              <a:rPr lang="en-US" sz="1200" dirty="0">
                <a:latin typeface="Cambria" panose="02040503050406030204" pitchFamily="18" charset="0"/>
              </a:rPr>
              <a:t>      — save(ride), </a:t>
            </a:r>
            <a:r>
              <a:rPr lang="en-US" sz="1200" dirty="0" err="1">
                <a:latin typeface="Cambria" panose="02040503050406030204" pitchFamily="18" charset="0"/>
              </a:rPr>
              <a:t>findById</a:t>
            </a:r>
            <a:r>
              <a:rPr lang="en-US" sz="1200" dirty="0">
                <a:latin typeface="Cambria" panose="02040503050406030204" pitchFamily="18" charset="0"/>
              </a:rPr>
              <a:t>(id), </a:t>
            </a:r>
            <a:r>
              <a:rPr lang="en-US" sz="1200" dirty="0" err="1">
                <a:latin typeface="Cambria" panose="02040503050406030204" pitchFamily="18" charset="0"/>
              </a:rPr>
              <a:t>findActiveByDriver</a:t>
            </a:r>
            <a:r>
              <a:rPr lang="en-US" sz="1200" dirty="0">
                <a:latin typeface="Cambria" panose="02040503050406030204" pitchFamily="18" charset="0"/>
              </a:rPr>
              <a:t>(</a:t>
            </a:r>
            <a:r>
              <a:rPr lang="en-US" sz="1200" dirty="0" err="1">
                <a:latin typeface="Cambria" panose="02040503050406030204" pitchFamily="18" charset="0"/>
              </a:rPr>
              <a:t>driverId</a:t>
            </a:r>
            <a:r>
              <a:rPr lang="en-US" sz="1200" dirty="0">
                <a:latin typeface="Cambria" panose="02040503050406030204" pitchFamily="18" charset="0"/>
              </a:rPr>
              <a:t>)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lang="en-US" sz="1200" dirty="0" err="1">
                <a:latin typeface="Cambria" panose="02040503050406030204" pitchFamily="18" charset="0"/>
              </a:rPr>
              <a:t>DriverRepository.ts</a:t>
            </a:r>
            <a:r>
              <a:rPr lang="en-US" sz="1200" dirty="0">
                <a:latin typeface="Cambria" panose="02040503050406030204" pitchFamily="18" charset="0"/>
              </a:rPr>
              <a:t>    — </a:t>
            </a:r>
            <a:r>
              <a:rPr lang="en-US" sz="1200" dirty="0" err="1">
                <a:latin typeface="Cambria" panose="02040503050406030204" pitchFamily="18" charset="0"/>
              </a:rPr>
              <a:t>findNearby</a:t>
            </a:r>
            <a:r>
              <a:rPr lang="en-US" sz="1200" dirty="0">
                <a:latin typeface="Cambria" panose="02040503050406030204" pitchFamily="18" charset="0"/>
              </a:rPr>
              <a:t>(</a:t>
            </a:r>
            <a:r>
              <a:rPr lang="en-US" sz="1200" dirty="0" err="1">
                <a:latin typeface="Cambria" panose="02040503050406030204" pitchFamily="18" charset="0"/>
              </a:rPr>
              <a:t>lat</a:t>
            </a:r>
            <a:r>
              <a:rPr lang="en-US" sz="1200" dirty="0">
                <a:latin typeface="Cambria" panose="02040503050406030204" pitchFamily="18" charset="0"/>
              </a:rPr>
              <a:t>, </a:t>
            </a:r>
            <a:r>
              <a:rPr lang="en-US" sz="1200" dirty="0" err="1">
                <a:latin typeface="Cambria" panose="02040503050406030204" pitchFamily="18" charset="0"/>
              </a:rPr>
              <a:t>lng</a:t>
            </a:r>
            <a:r>
              <a:rPr lang="en-US" sz="1200" dirty="0">
                <a:latin typeface="Cambria" panose="02040503050406030204" pitchFamily="18" charset="0"/>
              </a:rPr>
              <a:t>, </a:t>
            </a:r>
            <a:r>
              <a:rPr lang="en-US" sz="1200" dirty="0" err="1">
                <a:latin typeface="Cambria" panose="02040503050406030204" pitchFamily="18" charset="0"/>
              </a:rPr>
              <a:t>radiusKm</a:t>
            </a:r>
            <a:r>
              <a:rPr lang="en-US" sz="1200" dirty="0">
                <a:latin typeface="Cambria" panose="02040503050406030204" pitchFamily="18" charset="0"/>
              </a:rPr>
              <a:t>), </a:t>
            </a:r>
            <a:r>
              <a:rPr lang="en-US" sz="1200" dirty="0" err="1">
                <a:latin typeface="Cambria" panose="02040503050406030204" pitchFamily="18" charset="0"/>
              </a:rPr>
              <a:t>updateAvailability</a:t>
            </a:r>
            <a:r>
              <a:rPr lang="en-US" sz="1200" dirty="0">
                <a:latin typeface="Cambria" panose="02040503050406030204" pitchFamily="18" charset="0"/>
              </a:rPr>
              <a:t>()</a:t>
            </a:r>
            <a:r>
              <a:rPr lang="en-US" sz="1400" dirty="0">
                <a:latin typeface="Cambria" panose="02040503050406030204" pitchFamily="18" charset="0"/>
              </a:rPr>
              <a:t> </a:t>
            </a:r>
          </a:p>
          <a:p>
            <a:pPr marL="0" indent="0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1400" i="1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Repositories ONLY know database queries — no business rules.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endParaRPr lang="en-US" sz="1400" b="1" dirty="0">
              <a:solidFill>
                <a:srgbClr val="50808E"/>
              </a:solidFill>
              <a:latin typeface="Cambria" panose="02040503050406030204" pitchFamily="18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50808E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DATABASE LAYER  (infrastructure)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mbria" panose="02040503050406030204" pitchFamily="18" charset="0"/>
                <a:ea typeface="Consolas" pitchFamily="34" charset="-122"/>
                <a:cs typeface="Consolas" pitchFamily="34" charset="-120"/>
              </a:rPr>
              <a:t>PostgreSQL (RDS), Redis (ElastiCache), FCM / Twilio</a:t>
            </a:r>
            <a:endParaRPr lang="en-US" sz="1400" b="1" dirty="0">
              <a:solidFill>
                <a:srgbClr val="2E7D46"/>
              </a:solidFill>
              <a:latin typeface="Cambria" panose="02040503050406030204" pitchFamily="18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2E7D4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CHECK: RideController → RideService → RideRepository → PostgreSQL  ✓</a:t>
            </a:r>
            <a:endParaRPr lang="en-US" sz="1200" b="1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MVC — Model, View, Controller</a:t>
            </a:r>
            <a:r>
              <a:rPr lang="en-US" sz="1600" i="1" dirty="0">
                <a:solidFill>
                  <a:srgbClr val="C9CC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and its variants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02920" y="1188720"/>
            <a:ext cx="8138160" cy="5239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Model: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The data and business rules. Domain entities, validation, state. Does NOT know the View exists and does NOT know what HTTP is — runnable in a test.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View: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The UI representation of model data. An HTML template, a JSON response body, or a React Native screen. Reads from the Model; never modifies it directly.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Controller: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The intermediary between user input and the Model. Decides which Model operation to call and which View to render. Contains NO business logic — it only orchestrates.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Fat Controller: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An anti-pattern: a Controller that holds business logic. A Controller should be a traffic director — it routes; it does not decide.</a:t>
            </a:r>
            <a:endParaRPr lang="en-US" sz="155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MVC Data Flow — UniRide “Book a Ride”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133856"/>
            <a:ext cx="8138160" cy="3608966"/>
          </a:xfrm>
          <a:prstGeom prst="roundRect">
            <a:avLst>
              <a:gd name="adj" fmla="val 104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1261872"/>
            <a:ext cx="7772400" cy="5010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STEP 1 — Student taps ‘Book Ride’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An HTTP POST /rides request reaches the CONTROLLER (RideController.createRide()).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STEP 2 — Controller handles the request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Extracts userId (from JWT), pickup &amp; destination (from body); validates the shape;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calls RideService.createRide(...). It does NOT decide driver availability.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STEP 3 — Model does the work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RideService checks availability, runs MatchingEngine, saves via RideRepository,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triggers NotificationService, and returns the created Ride object.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STEP 4 — Controller renders the View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Sends HTTP 201 + JSON { rideId, driver, estimatedArrival }. This JSON IS the View.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7293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KEY RULE: The Controller is the traffic director — it routes, it does not decide.</a:t>
            </a:r>
            <a:endParaRPr lang="en-US" sz="14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MVC vs. MVP vs. MVVM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4702914"/>
              </p:ext>
            </p:extLst>
          </p:nvPr>
        </p:nvGraphicFramePr>
        <p:xfrm>
          <a:off x="502920" y="1133856"/>
          <a:ext cx="8138160" cy="438912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97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Pattern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8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Key difference from MVC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8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Where you see it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8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MVC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Controller handles input and selects the View; the View can read the Model directly via Observer.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Express.js, Django, Rails, Spring MVC, Laravel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MVP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Presenter handles ALL View logic — View is completely passive (dumb view). View delegates every event to Presenter. Presenter updates View via interface. Testable without a real UI framework. 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Android (classic), Windows Forms, some iOS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MVVM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 err="1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ViewModel</a:t>
                      </a: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 exposes observable data streams. View binds to </a:t>
                      </a:r>
                      <a:r>
                        <a:rPr lang="en-US" sz="1400" dirty="0" err="1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ViewModel</a:t>
                      </a: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 reactively — auto-updates when data changes. No direct View-to-</a:t>
                      </a:r>
                      <a:r>
                        <a:rPr lang="en-US" sz="1400" dirty="0" err="1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ViewModel</a:t>
                      </a: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 method calls needed. 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React (hooks), Angular, Vue, SwiftUI, Compose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anose="02040503050406030204" pitchFamily="18" charset="0"/>
                <a:ea typeface="Cambria" pitchFamily="34" charset="-122"/>
                <a:cs typeface="Cambria" pitchFamily="34" charset="-120"/>
              </a:rPr>
              <a:t>How to Remember Them</a:t>
            </a:r>
            <a:r>
              <a:rPr lang="en-US" sz="1600" i="1" dirty="0">
                <a:solidFill>
                  <a:srgbClr val="C9CCD6"/>
                </a:solidFill>
                <a:latin typeface="Cambria" panose="02040503050406030204" pitchFamily="18" charset="0"/>
                <a:ea typeface="Cambria" pitchFamily="34" charset="-122"/>
                <a:cs typeface="Cambria" pitchFamily="34" charset="-120"/>
              </a:rPr>
              <a:t>  </a:t>
            </a:r>
          </a:p>
          <a:p>
            <a:pPr marL="0" indent="0" algn="l">
              <a:buNone/>
            </a:pPr>
            <a:r>
              <a:rPr lang="en-US" sz="1400" i="1" dirty="0" err="1">
                <a:solidFill>
                  <a:srgbClr val="C9CCD6"/>
                </a:solidFill>
                <a:latin typeface="Cambria" panose="02040503050406030204" pitchFamily="18" charset="0"/>
                <a:ea typeface="Cambria" pitchFamily="34" charset="-122"/>
                <a:cs typeface="Cambria" pitchFamily="34" charset="-120"/>
              </a:rPr>
              <a:t>UniRide</a:t>
            </a:r>
            <a:r>
              <a:rPr lang="en-US" sz="1400" i="1" dirty="0">
                <a:solidFill>
                  <a:srgbClr val="C9CCD6"/>
                </a:solidFill>
                <a:latin typeface="Cambria" panose="02040503050406030204" pitchFamily="18" charset="0"/>
                <a:ea typeface="Cambria" pitchFamily="34" charset="-122"/>
                <a:cs typeface="Cambria" pitchFamily="34" charset="-120"/>
              </a:rPr>
              <a:t> backend = MVC; React Native app = MVVM</a:t>
            </a:r>
            <a:r>
              <a:rPr lang="en-US" sz="1200" i="1" dirty="0">
                <a:solidFill>
                  <a:srgbClr val="C9CCD6"/>
                </a:solidFill>
                <a:latin typeface="Cambria" panose="02040503050406030204" pitchFamily="18" charset="0"/>
                <a:ea typeface="Cambria" pitchFamily="34" charset="-122"/>
                <a:cs typeface="Cambria" pitchFamily="34" charset="-120"/>
              </a:rPr>
              <a:t>  </a:t>
            </a:r>
            <a:r>
              <a:rPr lang="en-US" sz="1600" i="1" dirty="0">
                <a:solidFill>
                  <a:srgbClr val="C9CCD6"/>
                </a:solidFill>
                <a:latin typeface="Cambria" panose="02040503050406030204" pitchFamily="18" charset="0"/>
                <a:ea typeface="Cambria" pitchFamily="34" charset="-122"/>
                <a:cs typeface="Cambria" pitchFamily="34" charset="-120"/>
              </a:rPr>
              <a:t>— the same system uses both</a:t>
            </a:r>
            <a:endParaRPr lang="en-US" sz="2400" dirty="0">
              <a:latin typeface="Cambria" panose="020405030504060302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>
              <a:latin typeface="Cambria" panose="020405030504060302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800" dirty="0">
              <a:latin typeface="Cambria" panose="020405030504060302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02920" y="1207008"/>
            <a:ext cx="2542032" cy="1767304"/>
          </a:xfrm>
          <a:prstGeom prst="roundRect">
            <a:avLst>
              <a:gd name="adj" fmla="val 1799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94360" y="1298448"/>
            <a:ext cx="2359152" cy="384048"/>
          </a:xfrm>
          <a:prstGeom prst="roundRect">
            <a:avLst>
              <a:gd name="adj" fmla="val 11905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94360" y="1298448"/>
            <a:ext cx="2359152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MVC — Traffic Cop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49224" y="1737360"/>
            <a:ext cx="2249424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The Controller routes requests, but the View can look at the Model. Two-way Model↔View via Observer.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300984" y="1207008"/>
            <a:ext cx="2542032" cy="1767304"/>
          </a:xfrm>
          <a:prstGeom prst="roundRect">
            <a:avLst>
              <a:gd name="adj" fmla="val 1799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392424" y="1298448"/>
            <a:ext cx="2359152" cy="384048"/>
          </a:xfrm>
          <a:prstGeom prst="roundRect">
            <a:avLst>
              <a:gd name="adj" fmla="val 11905"/>
            </a:avLst>
          </a:prstGeom>
          <a:solidFill>
            <a:srgbClr val="2F6DB5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392424" y="1298448"/>
            <a:ext cx="2359152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MVP — Puppeteer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3447288" y="1737360"/>
            <a:ext cx="2249424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The View has NO logic — it only does what the Presenter says. Most testable: the View is a dumb shell.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6099048" y="1207008"/>
            <a:ext cx="2542032" cy="1767304"/>
          </a:xfrm>
          <a:prstGeom prst="roundRect">
            <a:avLst>
              <a:gd name="adj" fmla="val 1799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6190488" y="1298448"/>
            <a:ext cx="2359152" cy="384048"/>
          </a:xfrm>
          <a:prstGeom prst="roundRect">
            <a:avLst>
              <a:gd name="adj" fmla="val 11905"/>
            </a:avLst>
          </a:prstGeom>
          <a:solidFill>
            <a:srgbClr val="7A4FA3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190488" y="1298448"/>
            <a:ext cx="2359152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MVVM — Vending Machine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245352" y="1737360"/>
            <a:ext cx="2249424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The View subscribes to the ViewModel and auto-updates reactively. No direct View→ViewModel calls.</a:t>
            </a:r>
            <a:endParaRPr lang="en-US" sz="14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Fat Controller Anti-Pattern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133856"/>
            <a:ext cx="8138160" cy="3840480"/>
          </a:xfrm>
          <a:prstGeom prst="roundRect">
            <a:avLst>
              <a:gd name="adj" fmla="val 1429"/>
            </a:avLst>
          </a:prstGeom>
          <a:solidFill>
            <a:srgbClr val="F5F5F7"/>
          </a:solidFill>
          <a:ln w="12700">
            <a:solidFill>
              <a:srgbClr val="D9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67512" y="1225296"/>
            <a:ext cx="7808976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WRONG — business logic, matching, SQL and SMS all in the Controller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router.post('/rides', async (req, res) =&gt; {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drivers = await db.query('SELECT * FROM drivers WHERE available=true');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nearest = drivers.sort((a,b) =&gt;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distance(req.body.pickup,a.loc) - distance(req.body.pickup,b.loc))[0];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(!nearest) return res.status(503).json({ error: 'No drivers' });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ride = await db.query('INSERT INTO rides ... RETURNING *');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sendSMS(nearest.phone, 'New ride request');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res.status(201).json(ride.rows[0]);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5084064"/>
            <a:ext cx="8138160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Violates MVC and SRP: SQL, matching, and SMS are all in one untestable function.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Controller → RideService.createRide() → MatchingEngine + NotificationService.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UniRide MVC — Before vs. After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133856"/>
            <a:ext cx="8138160" cy="4572000"/>
          </a:xfrm>
          <a:prstGeom prst="roundRect">
            <a:avLst>
              <a:gd name="adj" fmla="val 1200"/>
            </a:avLst>
          </a:prstGeom>
          <a:solidFill>
            <a:srgbClr val="F5F5F7"/>
          </a:solidFill>
          <a:ln w="12700">
            <a:solidFill>
              <a:srgbClr val="D9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67512" y="1225296"/>
            <a:ext cx="7808976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BEFORE — fat controller, zero MVC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router.post('/rides', async (req,res) =&gt; {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drivers = await db.query('SELECT * FROM drivers WHERE available=true');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driver = drivers.rows[0];        // no real matching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ride = await db.query('INSERT INTO rides ... RETURNING *', [...]);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fetch('https://fcm.googleapis.com/...', {...});  // hardcoded URL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res.status(201).json(ride.rows[0]);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  // SQL + matching + FCM in a route — 0% testable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7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AFTER — proper MVC + layered architecture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create(req, res) {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{ pickup, destination } = req.body;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ride = await this.rideService.createRide(req.user.id, pickup, destination);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res.status(201).json(ride);   // 4 lines, no SQL, no FCM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5815584"/>
            <a:ext cx="813816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AFTER version the MatchingEngine is swappable and NotificationService is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mockable — each method is testable in isolation.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UniRide — Dependency Wiring (container.ts)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133856"/>
            <a:ext cx="8138160" cy="4572000"/>
          </a:xfrm>
          <a:prstGeom prst="roundRect">
            <a:avLst>
              <a:gd name="adj" fmla="val 1200"/>
            </a:avLst>
          </a:prstGeom>
          <a:solidFill>
            <a:srgbClr val="F5F5F7"/>
          </a:solidFill>
          <a:ln w="12700">
            <a:solidFill>
              <a:srgbClr val="D9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67512" y="1225296"/>
            <a:ext cx="7808976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7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composition root — wired once at application startup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pgPool = new Pool({ connectionString: process.env.DATABASE_URL });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redis  = createClient({ url: process.env.REDIS_URL });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Data Access — concrete implementations</a:t>
            </a:r>
            <a:endParaRPr lang="en-US" sz="14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rideRepo = new PostgresRideRepository(pgPool);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locRepo  = new RedisLocationRepository(redis);   // AP: locations in Redis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Application — receives interfaces, not concrete classes</a:t>
            </a:r>
            <a:endParaRPr lang="en-US" sz="14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matching = new NearestDriverMatcher(locRepo);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notify   = new FCMNotificationService(process.env.FCM_KEY);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rideSvc  = new RideService(rideRepo, matching, notify);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Presentation</a:t>
            </a:r>
            <a:endParaRPr lang="en-US" sz="14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rideController = new RideController(rideSvc);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5815584"/>
            <a:ext cx="813816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Stripe instead of bKash? Change ONE line here. RideService, RideController,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every test remain UNCHANGED — the power of layering + DIP.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MVC in TypeScript — Express.js Style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133856"/>
            <a:ext cx="8138160" cy="4663440"/>
          </a:xfrm>
          <a:prstGeom prst="roundRect">
            <a:avLst>
              <a:gd name="adj" fmla="val 1176"/>
            </a:avLst>
          </a:prstGeom>
          <a:solidFill>
            <a:srgbClr val="F5F5F7"/>
          </a:solidFill>
          <a:ln w="12700">
            <a:solidFill>
              <a:srgbClr val="D9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67512" y="1225296"/>
            <a:ext cx="7808976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7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MODEL — data + business logic, no HTTP imports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ProductModel {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items: Product[] = [];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findAll() { return this.items;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add(p: Product) { this.items.push(p);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7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CONTROLLER — translator: request → model op → response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ProductController {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constructor(private model: ProductModel) {}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list = (req, res) =&gt; res.json(this.model.findAll());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create = (req, res) =&gt; {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p = new Product(uuid(), req.body.name, req.body.price);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this.model.add(p); res.status(201).json(p);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7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ROUTER — wiring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router.get('/products',  ctrl.list);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router.post('/products', ctrl.create);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5907024"/>
            <a:ext cx="81381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uuid() (not Math.random()) for IDs. Use .bind(ctrl) or arrow methods so ‘this’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the controller, not the router — a classic Express.js bug.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UniRide — MVC Mapping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133856"/>
            <a:ext cx="8138160" cy="5266944"/>
          </a:xfrm>
          <a:prstGeom prst="roundRect">
            <a:avLst>
              <a:gd name="adj" fmla="val 104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1261872"/>
            <a:ext cx="7772400" cy="5010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600" dirty="0"/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/rides → HTTP 201 { rideId, driver, pickup, destination, estimatedArrival }</a:t>
            </a:r>
            <a:endParaRPr lang="en-US" sz="1600" dirty="0"/>
          </a:p>
          <a:p>
            <a:pPr marL="0" indent="0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16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 JSON response IS the View in a REST API)</a:t>
            </a:r>
            <a:endParaRPr lang="en-US" sz="1600" dirty="0"/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2F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 — src/controllers/RideController.ts</a:t>
            </a:r>
            <a:endParaRPr lang="en-US" sz="1600" dirty="0"/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createRide(req, res) {</a:t>
            </a:r>
            <a:endParaRPr lang="en-US" sz="1600" dirty="0"/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{ pickup, destination } = req.body;</a:t>
            </a:r>
            <a:endParaRPr lang="en-US" sz="1600" dirty="0"/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userId = req.user.id;            // from JWT middleware</a:t>
            </a:r>
            <a:endParaRPr lang="en-US" sz="1600" dirty="0"/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ride = await this.rideService.createRide(userId, pickup, destination);</a:t>
            </a:r>
            <a:endParaRPr lang="en-US" sz="1600" dirty="0"/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res.status(201).json(ride);</a:t>
            </a:r>
            <a:endParaRPr lang="en-US" sz="1600" dirty="0"/>
          </a:p>
          <a:p>
            <a:pPr marL="0" indent="0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  — 5 lines. No SQL. No business logic. No SMS calls.</a:t>
            </a:r>
            <a:endParaRPr lang="en-US" sz="1600" dirty="0"/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 — src/services/RideService.ts + src/repositories/RideRepository.ts</a:t>
            </a:r>
            <a:endParaRPr lang="en-US" sz="1600" dirty="0"/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 area → MatchingEngine.findBestDriver() → save → notify → return Ride.</a:t>
            </a:r>
            <a:endParaRPr lang="en-US" sz="1600" dirty="0"/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6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business rules live here — none in the Controller.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Week-2 &amp; Part-2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02920" y="1188720"/>
            <a:ext cx="8138160" cy="5239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PART 2 LEARNING GOALS — By the end of Part 2, you will be able to:</a:t>
            </a:r>
            <a:endParaRPr lang="en-US" sz="15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Use the C4 model’s four levels to document a system at the right level of zoom.</a:t>
            </a:r>
            <a:endParaRPr lang="en-US" sz="15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Choose C4 over classic UML and apply its notation and naming rules.</a:t>
            </a:r>
            <a:endParaRPr lang="en-US" sz="15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Compare monolith vs. service-oriented / microservices architecture across key criteria.</a:t>
            </a:r>
            <a:endParaRPr lang="en-US" sz="15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Make and justify the Week 2 UniRide architectural-style decision (modular monolith to start).</a:t>
            </a:r>
            <a:endParaRPr lang="en-US" sz="15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Update the UniRide Evolution Tracker with this week’s architectural decisions.</a:t>
            </a:r>
            <a:endParaRPr lang="en-US" sz="15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C4 Model — Why C4 over UML?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02920" y="1188720"/>
            <a:ext cx="8138160" cy="5239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Origin: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Created by Simon Brown (2010) as a pragmatic alternative to heavyweight UML. Now the most widely used architecture diagramming method in industry.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Simplicity: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UML has 14 diagram types; C4 has 4, each with a clear audience. C4 diagrams can be drawn in 10 minutes with pen and paper.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Tool-agnostic: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draw.io, Structurizr, Mermaid, PowerPoint, or pen — all work. No special tooling required.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Zoom metaphor: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Context → Container → Component → Code, like Google Maps: world → country → city → street.</a:t>
            </a:r>
            <a:endParaRPr lang="en-US" sz="155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anose="02040503050406030204" pitchFamily="18" charset="0"/>
                <a:ea typeface="Cambria" pitchFamily="34" charset="-122"/>
                <a:cs typeface="Cambria" pitchFamily="34" charset="-120"/>
              </a:rPr>
              <a:t>C4 — The Four Levels of Zoom</a:t>
            </a:r>
            <a:endParaRPr lang="en-US" sz="2500" dirty="0">
              <a:latin typeface="Cambria" panose="020405030504060302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>
              <a:latin typeface="Cambria" panose="020405030504060302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800" dirty="0">
              <a:latin typeface="Cambria" panose="020405030504060302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02920" y="1207008"/>
            <a:ext cx="3941064" cy="2468880"/>
          </a:xfrm>
          <a:prstGeom prst="roundRect">
            <a:avLst>
              <a:gd name="adj" fmla="val 185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94360" y="1298448"/>
            <a:ext cx="3758184" cy="384048"/>
          </a:xfrm>
          <a:prstGeom prst="roundRect">
            <a:avLst>
              <a:gd name="adj" fmla="val 11905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94360" y="1298448"/>
            <a:ext cx="3758184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Level 1 — Context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49224" y="1737360"/>
            <a:ext cx="3648456" cy="1847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What does the system do? Who uses it? What does it depend on? </a:t>
            </a:r>
          </a:p>
          <a:p>
            <a:pPr marL="0" indent="0" algn="l">
              <a:lnSpc>
                <a:spcPct val="100000"/>
              </a:lnSpc>
              <a:buNone/>
            </a:pPr>
            <a:endParaRPr lang="en-US" sz="1400" dirty="0">
              <a:solidFill>
                <a:srgbClr val="1A1A1A"/>
              </a:solidFill>
              <a:latin typeface="Cambria" panose="02040503050406030204" pitchFamily="18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Audience: everyone, technical and non-technical.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700016" y="1207008"/>
            <a:ext cx="3941064" cy="2468880"/>
          </a:xfrm>
          <a:prstGeom prst="roundRect">
            <a:avLst>
              <a:gd name="adj" fmla="val 185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791456" y="1298448"/>
            <a:ext cx="3758184" cy="384048"/>
          </a:xfrm>
          <a:prstGeom prst="roundRect">
            <a:avLst>
              <a:gd name="adj" fmla="val 11905"/>
            </a:avLst>
          </a:prstGeom>
          <a:solidFill>
            <a:srgbClr val="2F6DB5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791456" y="1298448"/>
            <a:ext cx="3758184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Level 2 — Container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846320" y="1737360"/>
            <a:ext cx="3648456" cy="1847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What are the deployable units, their technologies, and how do they communicate? </a:t>
            </a:r>
          </a:p>
          <a:p>
            <a:pPr marL="0" indent="0" algn="l">
              <a:lnSpc>
                <a:spcPct val="100000"/>
              </a:lnSpc>
              <a:buNone/>
            </a:pPr>
            <a:endParaRPr lang="en-US" sz="1400" dirty="0">
              <a:solidFill>
                <a:srgbClr val="1A1A1A"/>
              </a:solidFill>
              <a:latin typeface="Cambria" panose="02040503050406030204" pitchFamily="18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Audience: technical stakeholders.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502920" y="3931920"/>
            <a:ext cx="3941064" cy="2468880"/>
          </a:xfrm>
          <a:prstGeom prst="roundRect">
            <a:avLst>
              <a:gd name="adj" fmla="val 185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594360" y="4023360"/>
            <a:ext cx="3758184" cy="384048"/>
          </a:xfrm>
          <a:prstGeom prst="roundRect">
            <a:avLst>
              <a:gd name="adj" fmla="val 11905"/>
            </a:avLst>
          </a:prstGeom>
          <a:solidFill>
            <a:srgbClr val="242852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594360" y="4023360"/>
            <a:ext cx="3758184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Level 3 — Component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49224" y="4462272"/>
            <a:ext cx="3648456" cy="1847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What are the major components inside ONE container and how do they collaborate? </a:t>
            </a:r>
          </a:p>
          <a:p>
            <a:pPr marL="0" indent="0" algn="l">
              <a:lnSpc>
                <a:spcPct val="100000"/>
              </a:lnSpc>
              <a:buNone/>
            </a:pPr>
            <a:endParaRPr lang="en-US" sz="1400" dirty="0">
              <a:solidFill>
                <a:srgbClr val="1A1A1A"/>
              </a:solidFill>
              <a:latin typeface="Cambria" panose="02040503050406030204" pitchFamily="18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Audience: developers on it.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4700016" y="3931920"/>
            <a:ext cx="3941064" cy="2468880"/>
          </a:xfrm>
          <a:prstGeom prst="roundRect">
            <a:avLst>
              <a:gd name="adj" fmla="val 185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4791456" y="4023360"/>
            <a:ext cx="3758184" cy="384048"/>
          </a:xfrm>
          <a:prstGeom prst="roundRect">
            <a:avLst>
              <a:gd name="adj" fmla="val 11905"/>
            </a:avLst>
          </a:prstGeom>
          <a:solidFill>
            <a:srgbClr val="50808E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4791456" y="4023360"/>
            <a:ext cx="3758184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Level 4 — Code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4846320" y="4462272"/>
            <a:ext cx="3648456" cy="1847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Class-level structure. Rarely needed — most teams stop at Level 3. Auto-generate with PlantUML if required.</a:t>
            </a:r>
            <a:endParaRPr lang="en-US" sz="14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C4 Levels 1 &amp; 2 — In Detail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02920" y="1188720"/>
            <a:ext cx="8138160" cy="5239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Level 1 shows: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The software system as a single box, its users, and the external systems it integrates with — arrows show interaction direction.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Level 1 hides: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Any internal components, databases, or technology choices. Must be explainable to a non-technical person in 60 seconds and fit one page.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Level 2 shows: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Each deployable/runnable unit (web app, mobile app, API server, database, cache) WITH its technology and the protocols between them.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Container ≠ Docker: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 C4 ‘container’ predates Docker — it is any deployable unit: a Java process, a database server, a serverless function.</a:t>
            </a:r>
            <a:endParaRPr lang="en-US" sz="155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C4 Levels 3 &amp; 4 — In Detail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02920" y="1188720"/>
            <a:ext cx="8138160" cy="5239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Level 3 shows: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The major logical components inside ONE container — Controllers, Services, Repositories, Middleware — with responsibilities and interactions.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Level 3 scope: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Draw one Component diagram per important container. Drawing it for all containers makes the diagram too large to read.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Level 4 warning: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Rarely needed in practice. With good SOLID code, structure is self-documenting. Use only for complex algorithms or domain models.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Golden rule: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Every diagram must state its level, its title, and its key. ‘If someone asks what a box means, the diagram has failed.’ — Simon Brown.</a:t>
            </a:r>
            <a:endParaRPr lang="en-US" sz="155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C4 Notation &amp; Naming Rules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2127245"/>
              </p:ext>
            </p:extLst>
          </p:nvPr>
        </p:nvGraphicFramePr>
        <p:xfrm>
          <a:off x="502920" y="1133856"/>
          <a:ext cx="8138160" cy="333756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Element</a:t>
                      </a:r>
                      <a:endParaRPr lang="en-US" sz="16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8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How to draw and label it</a:t>
                      </a:r>
                      <a:endParaRPr lang="en-US" sz="16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8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Persons (users)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Stick figure / person icon. Label = role (Student, Driver, Admin) — a type of user, not a user story.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Software systems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A box with a name and brief description. Your system in blue/teal; external systems in grey.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Containers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A box with a technology badge, e.g. ‘API Server [Node.js/Express]’. Always show the technology.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Components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A component box: name + responsibility, e.g. ‘RideService [Service] — manages ride lifecycle’.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Relationships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Arrows labelled with what AND how, e.g. ‘Makes API calls [HTTPS/JSON]’ — never an unlabelled arrow.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External systems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Shown in grey — things you call but do not own: Google Maps, bKash, Firebase, Twilio.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In-Class Exercise — UniRide C4 Level 1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133856"/>
            <a:ext cx="8138160" cy="5266944"/>
          </a:xfrm>
          <a:prstGeom prst="roundRect">
            <a:avLst>
              <a:gd name="adj" fmla="val 104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1261872"/>
            <a:ext cx="7772400" cy="5010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On paper or a digital tool, draw the C4 Level 1 Context</a:t>
            </a:r>
            <a:r>
              <a:rPr lang="en-US" sz="1400" dirty="0">
                <a:latin typeface="Cambria" panose="02040503050406030204" pitchFamily="18" charset="0"/>
              </a:rPr>
              <a:t> </a:t>
            </a: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diagram for UniRide.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endParaRPr lang="en-US" sz="1400" b="1" dirty="0">
              <a:solidFill>
                <a:srgbClr val="242852"/>
              </a:solidFill>
              <a:latin typeface="Cambria" panose="02040503050406030204" pitchFamily="18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PERSONS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Student (requests rides) · Driver (accepts &amp; fulfils) · Admin (manages platform)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endParaRPr lang="en-US" sz="1400" b="1" dirty="0">
              <a:solidFill>
                <a:srgbClr val="242852"/>
              </a:solidFill>
              <a:latin typeface="Cambria" panose="02040503050406030204" pitchFamily="18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SOFTWARE SYSTEM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UniRide — the single box in the centre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endParaRPr lang="en-US" sz="1400" b="1" dirty="0">
              <a:solidFill>
                <a:srgbClr val="242852"/>
              </a:solidFill>
              <a:latin typeface="Cambria" panose="02040503050406030204" pitchFamily="18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EXTERNAL SYSTEMS</a:t>
            </a:r>
            <a:endParaRPr lang="en-US" sz="1400" dirty="0">
              <a:latin typeface="Cambria" panose="02040503050406030204" pitchFamily="18" charset="0"/>
            </a:endParaRPr>
          </a:p>
          <a:p>
            <a:pPr marL="0" lvl="1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Google Maps API (routing/distance) · bKash (payments) · Firebase FCM (push)</a:t>
            </a:r>
            <a:endParaRPr lang="en-US" sz="1400" dirty="0">
              <a:latin typeface="Cambria" panose="02040503050406030204" pitchFamily="18" charset="0"/>
            </a:endParaRPr>
          </a:p>
          <a:p>
            <a:pPr marL="0" lvl="1" indent="0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Twilio (SMS) · AIUB Student Information System (identity verification)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endParaRPr lang="en-US" sz="1400" b="1">
              <a:solidFill>
                <a:srgbClr val="1C7293"/>
              </a:solidFill>
              <a:latin typeface="Cambria" panose="02040503050406030204" pitchFamily="18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b="1">
                <a:solidFill>
                  <a:srgbClr val="1C7293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Each </a:t>
            </a:r>
            <a:r>
              <a:rPr lang="en-US" sz="1400" b="1" dirty="0">
                <a:solidFill>
                  <a:srgbClr val="1C7293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box needs a name + brief description. Each arrow needs what AND how</a:t>
            </a:r>
            <a:r>
              <a:rPr lang="en-US" sz="1400" dirty="0">
                <a:latin typeface="Cambria" panose="02040503050406030204" pitchFamily="18" charset="0"/>
              </a:rPr>
              <a:t> </a:t>
            </a:r>
            <a:r>
              <a:rPr lang="en-US" sz="1400" b="1" dirty="0">
                <a:solidFill>
                  <a:srgbClr val="1C7293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(protocol). If it does not fit on one page, you have included too much.</a:t>
            </a:r>
            <a:endParaRPr lang="en-US" sz="14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UniRide C4 Level 1 — Reference Relationships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133856"/>
            <a:ext cx="8138160" cy="5266944"/>
          </a:xfrm>
          <a:prstGeom prst="roundRect">
            <a:avLst>
              <a:gd name="adj" fmla="val 104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1261872"/>
            <a:ext cx="7772400" cy="5010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Student  → UniRide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mbria" panose="02040503050406030204" pitchFamily="18" charset="0"/>
                <a:ea typeface="Consolas" pitchFamily="34" charset="-122"/>
                <a:cs typeface="Consolas" pitchFamily="34" charset="-120"/>
              </a:rPr>
              <a:t>Requests and tracks rides  [Mobile App]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Driver   → UniRide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mbria" panose="02040503050406030204" pitchFamily="18" charset="0"/>
                <a:ea typeface="Consolas" pitchFamily="34" charset="-122"/>
                <a:cs typeface="Consolas" pitchFamily="34" charset="-120"/>
              </a:rPr>
              <a:t>Accepts requests and updates location  [Mobile App]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Admin    → UniRide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mbria" panose="02040503050406030204" pitchFamily="18" charset="0"/>
                <a:ea typeface="Consolas" pitchFamily="34" charset="-122"/>
                <a:cs typeface="Consolas" pitchFamily="34" charset="-120"/>
              </a:rPr>
              <a:t>Manages drivers, disputes, config  [Web Portal]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7293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UniRide → Google Maps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mbria" panose="02040503050406030204" pitchFamily="18" charset="0"/>
                <a:ea typeface="Consolas" pitchFamily="34" charset="-122"/>
                <a:cs typeface="Consolas" pitchFamily="34" charset="-120"/>
              </a:rPr>
              <a:t>Calculates routes and ETAs  [HTTPS/REST]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7293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UniRide → bKash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mbria" panose="02040503050406030204" pitchFamily="18" charset="0"/>
                <a:ea typeface="Consolas" pitchFamily="34" charset="-122"/>
                <a:cs typeface="Consolas" pitchFamily="34" charset="-120"/>
              </a:rPr>
              <a:t>Processes ride payments  [HTTPS/REST]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7293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UniRide → Firebase / Twilio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mbria" panose="02040503050406030204" pitchFamily="18" charset="0"/>
                <a:ea typeface="Consolas" pitchFamily="34" charset="-122"/>
                <a:cs typeface="Consolas" pitchFamily="34" charset="-120"/>
              </a:rPr>
              <a:t>Sends push and SMS notifications  [HTTPS/REST]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7293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UniRide → AIUB SIS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mbria" panose="02040503050406030204" pitchFamily="18" charset="0"/>
                <a:ea typeface="Consolas" pitchFamily="34" charset="-122"/>
                <a:cs typeface="Consolas" pitchFamily="34" charset="-120"/>
              </a:rPr>
              <a:t>Verifies student enrollment  [HTTPS/REST]</a:t>
            </a:r>
            <a:endParaRPr lang="en-US" sz="14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UniRide — C4 Level 1: Reference Diagram</a:t>
            </a:r>
            <a:r>
              <a:rPr lang="en-US" sz="1600" i="1" dirty="0">
                <a:solidFill>
                  <a:srgbClr val="C9CC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</a:t>
            </a:r>
          </a:p>
          <a:p>
            <a:pPr marL="0" indent="0" algn="l">
              <a:buNone/>
            </a:pPr>
            <a:r>
              <a:rPr lang="en-US" sz="1600" i="1" dirty="0">
                <a:solidFill>
                  <a:srgbClr val="C9CC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completed Context diagram — system in scope, 3 actors, 5 external systems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2286000" cy="749808"/>
          </a:xfrm>
          <a:prstGeom prst="roundRect">
            <a:avLst>
              <a:gd name="adj" fmla="val 8537"/>
            </a:avLst>
          </a:prstGeom>
          <a:solidFill>
            <a:srgbClr val="DCE6F4"/>
          </a:solidFill>
          <a:ln w="12700">
            <a:solidFill>
              <a:srgbClr val="2428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48640" y="1371600"/>
            <a:ext cx="228600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i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rides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429000" y="1371600"/>
            <a:ext cx="2286000" cy="749808"/>
          </a:xfrm>
          <a:prstGeom prst="roundRect">
            <a:avLst>
              <a:gd name="adj" fmla="val 8537"/>
            </a:avLst>
          </a:prstGeom>
          <a:solidFill>
            <a:srgbClr val="DCE6F4"/>
          </a:solidFill>
          <a:ln w="12700">
            <a:solidFill>
              <a:srgbClr val="2428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429000" y="1371600"/>
            <a:ext cx="228600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</a:t>
            </a:r>
            <a:endParaRPr lang="en-US" sz="12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i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&amp; fulfils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309360" y="1371600"/>
            <a:ext cx="2286000" cy="749808"/>
          </a:xfrm>
          <a:prstGeom prst="roundRect">
            <a:avLst>
              <a:gd name="adj" fmla="val 8537"/>
            </a:avLst>
          </a:prstGeom>
          <a:solidFill>
            <a:srgbClr val="DCE6F4"/>
          </a:solidFill>
          <a:ln w="12700">
            <a:solidFill>
              <a:srgbClr val="2428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309360" y="1371600"/>
            <a:ext cx="228600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i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platform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3657600" y="2926080"/>
            <a:ext cx="1828800" cy="868680"/>
          </a:xfrm>
          <a:prstGeom prst="roundRect">
            <a:avLst>
              <a:gd name="adj" fmla="val 7368"/>
            </a:avLst>
          </a:prstGeom>
          <a:solidFill>
            <a:srgbClr val="CFE6EC"/>
          </a:solidFill>
          <a:ln w="285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657600" y="2926080"/>
            <a:ext cx="182880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03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UniRide</a:t>
            </a:r>
            <a:endParaRPr lang="en-US" sz="12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i="1" dirty="0">
                <a:solidFill>
                  <a:srgbClr val="103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Ride-sharing platform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02920" y="4800600"/>
            <a:ext cx="1536192" cy="777240"/>
          </a:xfrm>
          <a:prstGeom prst="roundRect">
            <a:avLst>
              <a:gd name="adj" fmla="val 8235"/>
            </a:avLst>
          </a:prstGeom>
          <a:solidFill>
            <a:srgbClr val="ECECEE"/>
          </a:solidFill>
          <a:ln w="12700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02920" y="4800600"/>
            <a:ext cx="1536192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45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</a:t>
            </a:r>
            <a:endParaRPr lang="en-US" sz="12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i="1" dirty="0">
                <a:solidFill>
                  <a:srgbClr val="45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&amp; ETAs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2157984" y="4800600"/>
            <a:ext cx="1536192" cy="777240"/>
          </a:xfrm>
          <a:prstGeom prst="roundRect">
            <a:avLst>
              <a:gd name="adj" fmla="val 8235"/>
            </a:avLst>
          </a:prstGeom>
          <a:solidFill>
            <a:srgbClr val="ECECEE"/>
          </a:solidFill>
          <a:ln w="12700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2157984" y="4800600"/>
            <a:ext cx="1536192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45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bKash</a:t>
            </a:r>
            <a:endParaRPr lang="en-US" sz="12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i="1" dirty="0">
                <a:solidFill>
                  <a:srgbClr val="45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3813048" y="4800600"/>
            <a:ext cx="1536192" cy="777240"/>
          </a:xfrm>
          <a:prstGeom prst="roundRect">
            <a:avLst>
              <a:gd name="adj" fmla="val 8235"/>
            </a:avLst>
          </a:prstGeom>
          <a:solidFill>
            <a:srgbClr val="ECECEE"/>
          </a:solidFill>
          <a:ln w="12700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3813048" y="4800600"/>
            <a:ext cx="1536192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45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FCM</a:t>
            </a:r>
            <a:endParaRPr lang="en-US" sz="12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i="1" dirty="0">
                <a:solidFill>
                  <a:srgbClr val="45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468112" y="4800600"/>
            <a:ext cx="1536192" cy="777240"/>
          </a:xfrm>
          <a:prstGeom prst="roundRect">
            <a:avLst>
              <a:gd name="adj" fmla="val 8235"/>
            </a:avLst>
          </a:prstGeom>
          <a:solidFill>
            <a:srgbClr val="ECECEE"/>
          </a:solidFill>
          <a:ln w="12700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468112" y="4800600"/>
            <a:ext cx="1536192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45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</a:t>
            </a:r>
            <a:endParaRPr lang="en-US" sz="12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i="1" dirty="0">
                <a:solidFill>
                  <a:srgbClr val="45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7123176" y="4800600"/>
            <a:ext cx="1536192" cy="777240"/>
          </a:xfrm>
          <a:prstGeom prst="roundRect">
            <a:avLst>
              <a:gd name="adj" fmla="val 8235"/>
            </a:avLst>
          </a:prstGeom>
          <a:solidFill>
            <a:srgbClr val="ECECEE"/>
          </a:solidFill>
          <a:ln w="12700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7123176" y="4800600"/>
            <a:ext cx="1536192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45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AIUB SIS</a:t>
            </a:r>
            <a:endParaRPr lang="en-US" sz="12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i="1" dirty="0">
                <a:solidFill>
                  <a:srgbClr val="45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1691640" y="2121408"/>
            <a:ext cx="2240280" cy="804672"/>
          </a:xfrm>
          <a:prstGeom prst="line">
            <a:avLst/>
          </a:prstGeom>
          <a:noFill/>
          <a:ln w="15875">
            <a:solidFill>
              <a:srgbClr val="5A5C6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4572000" y="2121408"/>
            <a:ext cx="0" cy="804672"/>
          </a:xfrm>
          <a:prstGeom prst="line">
            <a:avLst/>
          </a:prstGeom>
          <a:noFill/>
          <a:ln w="15875">
            <a:solidFill>
              <a:srgbClr val="5A5C6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 flipH="1">
            <a:off x="5212080" y="2121408"/>
            <a:ext cx="2240280" cy="804672"/>
          </a:xfrm>
          <a:prstGeom prst="line">
            <a:avLst/>
          </a:prstGeom>
          <a:noFill/>
          <a:ln w="15875">
            <a:solidFill>
              <a:srgbClr val="5A5C6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 flipH="1">
            <a:off x="1271016" y="3794760"/>
            <a:ext cx="3300984" cy="1005840"/>
          </a:xfrm>
          <a:prstGeom prst="line">
            <a:avLst/>
          </a:prstGeom>
          <a:noFill/>
          <a:ln w="15875">
            <a:solidFill>
              <a:srgbClr val="5A5C6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 flipH="1">
            <a:off x="2926080" y="3794760"/>
            <a:ext cx="1645920" cy="1005840"/>
          </a:xfrm>
          <a:prstGeom prst="line">
            <a:avLst/>
          </a:prstGeom>
          <a:noFill/>
          <a:ln w="15875">
            <a:solidFill>
              <a:srgbClr val="5A5C6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4572000" y="3794760"/>
            <a:ext cx="9144" cy="1005840"/>
          </a:xfrm>
          <a:prstGeom prst="line">
            <a:avLst/>
          </a:prstGeom>
          <a:noFill/>
          <a:ln w="15875">
            <a:solidFill>
              <a:srgbClr val="5A5C6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4572000" y="3794760"/>
            <a:ext cx="1664208" cy="1005840"/>
          </a:xfrm>
          <a:prstGeom prst="line">
            <a:avLst/>
          </a:prstGeom>
          <a:noFill/>
          <a:ln w="15875">
            <a:solidFill>
              <a:srgbClr val="5A5C6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4572000" y="3794760"/>
            <a:ext cx="3319272" cy="1005840"/>
          </a:xfrm>
          <a:prstGeom prst="line">
            <a:avLst/>
          </a:prstGeom>
          <a:noFill/>
          <a:ln w="15875">
            <a:solidFill>
              <a:srgbClr val="5A5C6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868680" y="612648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DCE6F4"/>
          </a:solidFill>
          <a:ln w="12700">
            <a:solidFill>
              <a:srgbClr val="2428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1088136" y="607161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142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2057400" y="612648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CFE6EC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2276856" y="607161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142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 scope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3945636" y="612648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ECECEE"/>
          </a:solidFill>
          <a:ln w="12700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4165092" y="607161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142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system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Monolith vs. Service-Oriented Architecture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8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3000761"/>
              </p:ext>
            </p:extLst>
          </p:nvPr>
        </p:nvGraphicFramePr>
        <p:xfrm>
          <a:off x="502920" y="1133856"/>
          <a:ext cx="8138160" cy="384048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Criterion</a:t>
                      </a:r>
                      <a:endParaRPr lang="en-US" sz="16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8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Monolith</a:t>
                      </a:r>
                      <a:endParaRPr lang="en-US" sz="16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8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SOA / Microservices</a:t>
                      </a:r>
                      <a:endParaRPr lang="en-US" sz="16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8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Deployment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One build, one image, one instance.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Each service deployed independently (8 pipelines).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Scalability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Scale the whole app even if only matching is hot.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Scale only the hot service; others unchanged.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Dev speed (early)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Fast: one repo, one DB, shared types.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Slower: per-service CI/CD, contracts, health checks.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Fault isolation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A leak anywhere can crash the platform.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One service crashes; others keep running.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Data management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Shared DB — simple joins, one transaction.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Each service owns its data — no cross-joins.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Team autonomy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All devs share one codebase — merge conflicts.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Teams own services and deploy independently.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0–12 months · 1–3 devs · &lt;10k users.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12+ months · 5+ devs · 100k+ users · many teams.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UniRide — Architectural Style Decision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133856"/>
            <a:ext cx="8138160" cy="5266944"/>
          </a:xfrm>
          <a:prstGeom prst="roundRect">
            <a:avLst>
              <a:gd name="adj" fmla="val 104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1261872"/>
            <a:ext cx="7772400" cy="5010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DECISION: UniRide starts as a MODULAR MONOLITH.</a:t>
            </a:r>
            <a:endParaRPr lang="en-US" sz="16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7293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Why not microservices from day one?</a:t>
            </a:r>
            <a:endParaRPr lang="en-US" sz="1600" dirty="0">
              <a:latin typeface="Cambria" panose="02040503050406030204" pitchFamily="18" charset="0"/>
            </a:endParaRPr>
          </a:p>
          <a:p>
            <a:pPr marL="685800" lvl="1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 4-person student team, not 40 engineers.</a:t>
            </a:r>
            <a:endParaRPr lang="en-US" sz="1600" dirty="0">
              <a:latin typeface="Cambria" panose="02040503050406030204" pitchFamily="18" charset="0"/>
            </a:endParaRPr>
          </a:p>
          <a:p>
            <a:pPr marL="685800" lvl="1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We do not yet know which services need independent scaling — premature</a:t>
            </a:r>
            <a:r>
              <a:rPr lang="en-US" sz="1600" dirty="0">
                <a:latin typeface="Cambria" panose="02040503050406030204" pitchFamily="18" charset="0"/>
              </a:rPr>
              <a:t> </a:t>
            </a: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decomposition splits along the wrong boundaries.</a:t>
            </a:r>
            <a:endParaRPr lang="en-US" sz="1600" dirty="0">
              <a:latin typeface="Cambria" panose="02040503050406030204" pitchFamily="18" charset="0"/>
            </a:endParaRPr>
          </a:p>
          <a:p>
            <a:pPr marL="685800" lvl="1" indent="-3429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Operational overhead of 8 services would outweigh feature work.</a:t>
            </a:r>
            <a:endParaRPr lang="en-US" sz="16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7293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Why a MODULAR monolith specifically?</a:t>
            </a:r>
            <a:endParaRPr lang="en-US" sz="1600" dirty="0">
              <a:latin typeface="Cambria" panose="02040503050406030204" pitchFamily="18" charset="0"/>
            </a:endParaRPr>
          </a:p>
          <a:p>
            <a:pPr marL="685800" lvl="1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Strong module boundaries (rides, matching, payments, notifications) inside one</a:t>
            </a:r>
            <a:r>
              <a:rPr lang="en-US" sz="1600" dirty="0">
                <a:latin typeface="Cambria" panose="02040503050406030204" pitchFamily="18" charset="0"/>
              </a:rPr>
              <a:t> </a:t>
            </a: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deployment; modules talk only through interfaces, never internals.</a:t>
            </a:r>
            <a:endParaRPr lang="en-US" sz="1600" dirty="0">
              <a:latin typeface="Cambria" panose="02040503050406030204" pitchFamily="18" charset="0"/>
            </a:endParaRPr>
          </a:p>
          <a:p>
            <a:pPr marL="685800" lvl="1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When matching later needs GPU/ML scaling, we extract it cleanly — boundaries</a:t>
            </a:r>
            <a:r>
              <a:rPr lang="en-US" sz="1600" dirty="0">
                <a:latin typeface="Cambria" panose="02040503050406030204" pitchFamily="18" charset="0"/>
              </a:rPr>
              <a:t> </a:t>
            </a: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are already in place.</a:t>
            </a:r>
            <a:endParaRPr lang="en-US" sz="16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i="1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Netflix, Amazon, and Uber all started as monoliths — and migrated only when</a:t>
            </a:r>
            <a:r>
              <a:rPr lang="en-US" sz="1600" dirty="0">
                <a:latin typeface="Cambria" panose="02040503050406030204" pitchFamily="18" charset="0"/>
              </a:rPr>
              <a:t> </a:t>
            </a:r>
            <a:r>
              <a:rPr lang="en-US" sz="1400" i="1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the monolith became the bottleneck, not before.</a:t>
            </a:r>
            <a:endParaRPr lang="en-US" sz="16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anose="02040503050406030204" pitchFamily="18" charset="0"/>
                <a:ea typeface="Cambria" pitchFamily="34" charset="-122"/>
                <a:cs typeface="Cambria" pitchFamily="34" charset="-120"/>
              </a:rPr>
              <a:t>UniRide — Migration Path (ADR-002)</a:t>
            </a:r>
            <a:endParaRPr lang="en-US" sz="2500" dirty="0">
              <a:latin typeface="Cambria" panose="020405030504060302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>
              <a:latin typeface="Cambria" panose="020405030504060302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800" dirty="0">
              <a:latin typeface="Cambria" panose="020405030504060302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02920" y="1207008"/>
            <a:ext cx="3941064" cy="2468880"/>
          </a:xfrm>
          <a:prstGeom prst="roundRect">
            <a:avLst>
              <a:gd name="adj" fmla="val 185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94360" y="1298448"/>
            <a:ext cx="3758184" cy="384048"/>
          </a:xfrm>
          <a:prstGeom prst="roundRect">
            <a:avLst>
              <a:gd name="adj" fmla="val 11905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94360" y="1298448"/>
            <a:ext cx="3758184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Phase 1 — Now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49224" y="1737360"/>
            <a:ext cx="3648456" cy="1847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Modular monolith on 1 EC2 instance + RDS + ElastiCache. Prove the idea, ship features fast.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700016" y="1207008"/>
            <a:ext cx="3941064" cy="2468880"/>
          </a:xfrm>
          <a:prstGeom prst="roundRect">
            <a:avLst>
              <a:gd name="adj" fmla="val 185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791456" y="1298448"/>
            <a:ext cx="3758184" cy="384048"/>
          </a:xfrm>
          <a:prstGeom prst="roundRect">
            <a:avLst>
              <a:gd name="adj" fmla="val 11905"/>
            </a:avLst>
          </a:prstGeom>
          <a:solidFill>
            <a:srgbClr val="2F6DB5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791456" y="1298448"/>
            <a:ext cx="3758184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Phase 2 — ~1k users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846320" y="1737360"/>
            <a:ext cx="3648456" cy="1847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Horizontal scale: 2–3 EC2 instances behind an ALB. Same codebase, stateless API.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502920" y="3931920"/>
            <a:ext cx="3941064" cy="2468880"/>
          </a:xfrm>
          <a:prstGeom prst="roundRect">
            <a:avLst>
              <a:gd name="adj" fmla="val 185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594360" y="4023360"/>
            <a:ext cx="3758184" cy="384048"/>
          </a:xfrm>
          <a:prstGeom prst="roundRect">
            <a:avLst>
              <a:gd name="adj" fmla="val 11905"/>
            </a:avLst>
          </a:prstGeom>
          <a:solidFill>
            <a:srgbClr val="242852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594360" y="4023360"/>
            <a:ext cx="3758184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Phase 3 — ~10k users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49224" y="4462272"/>
            <a:ext cx="3648456" cy="1847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Extract the Matching Service first — most CPU-intensive, needs independent scaling.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4700016" y="3931920"/>
            <a:ext cx="3941064" cy="2468880"/>
          </a:xfrm>
          <a:prstGeom prst="roundRect">
            <a:avLst>
              <a:gd name="adj" fmla="val 185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4791456" y="4023360"/>
            <a:ext cx="3758184" cy="384048"/>
          </a:xfrm>
          <a:prstGeom prst="roundRect">
            <a:avLst>
              <a:gd name="adj" fmla="val 11905"/>
            </a:avLst>
          </a:prstGeom>
          <a:solidFill>
            <a:srgbClr val="50808E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4791456" y="4023360"/>
            <a:ext cx="3758184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Phase 4 — 100k+ users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4846320" y="4462272"/>
            <a:ext cx="3648456" cy="1847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Extract the Payment Service for compliance and security isolation requirements.</a:t>
            </a:r>
            <a:endParaRPr lang="en-US" sz="14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anose="02040503050406030204" pitchFamily="18" charset="0"/>
                <a:ea typeface="Cambria" pitchFamily="34" charset="-122"/>
                <a:cs typeface="Cambria" pitchFamily="34" charset="-120"/>
              </a:rPr>
              <a:t>Summary — Week 2</a:t>
            </a:r>
            <a:endParaRPr lang="en-US" sz="2500" dirty="0">
              <a:latin typeface="Cambria" panose="020405030504060302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408176"/>
            <a:ext cx="566928" cy="566928"/>
          </a:xfrm>
          <a:prstGeom prst="roundRect">
            <a:avLst>
              <a:gd name="adj" fmla="val 80645"/>
            </a:avLst>
          </a:prstGeom>
          <a:solidFill>
            <a:srgbClr val="242852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02920" y="14081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18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>
              <a:latin typeface="Cambria" panose="020405030504060302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344168" y="1225296"/>
            <a:ext cx="7296912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Layered architecture: dependencies flow downward only — never up, never skipping.</a:t>
            </a:r>
            <a:endParaRPr lang="en-US" sz="1500" dirty="0">
              <a:latin typeface="Cambria" panose="020405030504060302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02920" y="2468880"/>
            <a:ext cx="566928" cy="566928"/>
          </a:xfrm>
          <a:prstGeom prst="roundRect">
            <a:avLst>
              <a:gd name="adj" fmla="val 80645"/>
            </a:avLst>
          </a:prstGeom>
          <a:solidFill>
            <a:srgbClr val="242852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02920" y="24688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18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>
              <a:latin typeface="Cambria" panose="020405030504060302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344168" y="2286000"/>
            <a:ext cx="7296912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MVC separates data (Model), presentation (View), and orchestration (Controller).</a:t>
            </a:r>
            <a:endParaRPr lang="en-US" sz="1500" dirty="0">
              <a:latin typeface="Cambria" panose="020405030504060302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02920" y="3529584"/>
            <a:ext cx="566928" cy="566928"/>
          </a:xfrm>
          <a:prstGeom prst="roundRect">
            <a:avLst>
              <a:gd name="adj" fmla="val 80645"/>
            </a:avLst>
          </a:prstGeom>
          <a:solidFill>
            <a:srgbClr val="242852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02920" y="352958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18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>
              <a:latin typeface="Cambria" panose="020405030504060302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344168" y="3346704"/>
            <a:ext cx="7296912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MVP and MVVM trade Controller logic for a passive or reactive View.</a:t>
            </a:r>
            <a:endParaRPr lang="en-US" sz="1500" dirty="0">
              <a:latin typeface="Cambria" panose="020405030504060302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502920" y="4590288"/>
            <a:ext cx="566928" cy="566928"/>
          </a:xfrm>
          <a:prstGeom prst="roundRect">
            <a:avLst>
              <a:gd name="adj" fmla="val 80645"/>
            </a:avLst>
          </a:prstGeom>
          <a:solidFill>
            <a:srgbClr val="242852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502920" y="45902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18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>
              <a:latin typeface="Cambria" panose="020405030504060302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344168" y="4407408"/>
            <a:ext cx="7296912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C4 gives four diagram levels — Context, Container, Component, Code — one per audience.</a:t>
            </a:r>
            <a:endParaRPr lang="en-US" sz="1500" dirty="0">
              <a:latin typeface="Cambria" panose="020405030504060302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502920" y="5650992"/>
            <a:ext cx="566928" cy="566928"/>
          </a:xfrm>
          <a:prstGeom prst="roundRect">
            <a:avLst>
              <a:gd name="adj" fmla="val 80645"/>
            </a:avLst>
          </a:prstGeom>
          <a:solidFill>
            <a:srgbClr val="242852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502920" y="56509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18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>
              <a:latin typeface="Cambria" panose="020405030504060302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1344168" y="5468112"/>
            <a:ext cx="7296912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UniRide is a modular monolith — the right default for our scale, with a clean exit to services.</a:t>
            </a:r>
            <a:endParaRPr lang="en-US" sz="15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anose="02040503050406030204" pitchFamily="18" charset="0"/>
                <a:ea typeface="Cambria" pitchFamily="34" charset="-122"/>
                <a:cs typeface="Cambria" pitchFamily="34" charset="-120"/>
              </a:rPr>
              <a:t>Recommended Reading &amp; References</a:t>
            </a:r>
            <a:endParaRPr lang="en-US" sz="2500" dirty="0">
              <a:latin typeface="Cambria" panose="020405030504060302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207008"/>
            <a:ext cx="1051560" cy="1188720"/>
          </a:xfrm>
          <a:prstGeom prst="roundRect">
            <a:avLst>
              <a:gd name="adj" fmla="val 5217"/>
            </a:avLst>
          </a:prstGeom>
          <a:solidFill>
            <a:srgbClr val="242852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1051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18" charset="0"/>
                <a:ea typeface="Cambria" pitchFamily="34" charset="-122"/>
                <a:cs typeface="Cambria" pitchFamily="34" charset="-120"/>
              </a:rPr>
              <a:t>Bass</a:t>
            </a:r>
            <a:endParaRPr lang="en-US" sz="1500" dirty="0">
              <a:latin typeface="Cambria" panose="020405030504060302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1691640" y="1207008"/>
            <a:ext cx="6949440" cy="1188720"/>
          </a:xfrm>
          <a:prstGeom prst="roundRect">
            <a:avLst>
              <a:gd name="adj" fmla="val 3077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828800" y="1207008"/>
            <a:ext cx="6766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Software Architecture in Practice, 3rd ed.
</a:t>
            </a:r>
            <a:r>
              <a:rPr lang="en-US" sz="1150" dirty="0">
                <a:solidFill>
                  <a:srgbClr val="41424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Bass, Clements &amp; Kazman (2012)  ·  Ch. 5–7  ·  Availability, modifiability &amp; performance tactics</a:t>
            </a:r>
            <a:endParaRPr lang="en-US" sz="1350" dirty="0">
              <a:latin typeface="Cambria" panose="020405030504060302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502920" y="2542032"/>
            <a:ext cx="1051560" cy="1188720"/>
          </a:xfrm>
          <a:prstGeom prst="roundRect">
            <a:avLst>
              <a:gd name="adj" fmla="val 5217"/>
            </a:avLst>
          </a:prstGeom>
          <a:solidFill>
            <a:srgbClr val="242852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02920" y="2542032"/>
            <a:ext cx="1051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18" charset="0"/>
                <a:ea typeface="Cambria" pitchFamily="34" charset="-122"/>
                <a:cs typeface="Cambria" pitchFamily="34" charset="-120"/>
              </a:rPr>
              <a:t>C4</a:t>
            </a:r>
            <a:endParaRPr lang="en-US" sz="1500" dirty="0">
              <a:latin typeface="Cambria" panose="020405030504060302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1691640" y="2542032"/>
            <a:ext cx="6949440" cy="1188720"/>
          </a:xfrm>
          <a:prstGeom prst="roundRect">
            <a:avLst>
              <a:gd name="adj" fmla="val 3077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828800" y="2542032"/>
            <a:ext cx="6766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The C4 Model for Visualising Software Architecture
</a:t>
            </a:r>
            <a:r>
              <a:rPr lang="en-US" sz="1150" dirty="0">
                <a:solidFill>
                  <a:srgbClr val="41424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Simon Brown  ·  c4model.com (free)  ·  Notation rules: boxes, labels, relationships</a:t>
            </a:r>
            <a:endParaRPr lang="en-US" sz="1350" dirty="0">
              <a:latin typeface="Cambria" panose="020405030504060302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502920" y="3877056"/>
            <a:ext cx="1051560" cy="1188720"/>
          </a:xfrm>
          <a:prstGeom prst="roundRect">
            <a:avLst>
              <a:gd name="adj" fmla="val 5217"/>
            </a:avLst>
          </a:prstGeom>
          <a:solidFill>
            <a:srgbClr val="242852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02920" y="3877056"/>
            <a:ext cx="1051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18" charset="0"/>
                <a:ea typeface="Cambria" pitchFamily="34" charset="-122"/>
                <a:cs typeface="Cambria" pitchFamily="34" charset="-120"/>
              </a:rPr>
              <a:t>R&amp;F</a:t>
            </a:r>
            <a:endParaRPr lang="en-US" sz="1500" dirty="0">
              <a:latin typeface="Cambria" panose="020405030504060302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1691640" y="3877056"/>
            <a:ext cx="6949440" cy="1188720"/>
          </a:xfrm>
          <a:prstGeom prst="roundRect">
            <a:avLst>
              <a:gd name="adj" fmla="val 3077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828800" y="3877056"/>
            <a:ext cx="6766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Fundamentals of Software Architecture
</a:t>
            </a:r>
            <a:r>
              <a:rPr lang="en-US" sz="1150" dirty="0">
                <a:solidFill>
                  <a:srgbClr val="41424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Richards &amp; Ford (2020)  ·  Ch. 7–9  ·  Layered, pipeline &amp; microkernel styles</a:t>
            </a:r>
            <a:endParaRPr lang="en-US" sz="1350" dirty="0">
              <a:latin typeface="Cambria" panose="020405030504060302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502920" y="5212080"/>
            <a:ext cx="1051560" cy="1188720"/>
          </a:xfrm>
          <a:prstGeom prst="roundRect">
            <a:avLst>
              <a:gd name="adj" fmla="val 5217"/>
            </a:avLst>
          </a:prstGeom>
          <a:solidFill>
            <a:srgbClr val="242852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502920" y="5212080"/>
            <a:ext cx="1051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18" charset="0"/>
                <a:ea typeface="Cambria" pitchFamily="34" charset="-122"/>
                <a:cs typeface="Cambria" pitchFamily="34" charset="-120"/>
              </a:rPr>
              <a:t>HFDP</a:t>
            </a:r>
            <a:endParaRPr lang="en-US" sz="1500" dirty="0">
              <a:latin typeface="Cambria" panose="02040503050406030204" pitchFamily="18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1691640" y="5212080"/>
            <a:ext cx="6949440" cy="1188720"/>
          </a:xfrm>
          <a:prstGeom prst="roundRect">
            <a:avLst>
              <a:gd name="adj" fmla="val 3077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1828800" y="5212080"/>
            <a:ext cx="6766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Head First Design Patterns, 2nd ed.
</a:t>
            </a:r>
            <a:r>
              <a:rPr lang="en-US" sz="1150" dirty="0">
                <a:solidFill>
                  <a:srgbClr val="41424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Freeman &amp; Robson (2020)  ·  Ch. 1  ·  Strategy pattern — OCP &amp; DIP in practice</a:t>
            </a:r>
            <a:endParaRPr lang="en-US" sz="135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4637</Words>
  <Application>Microsoft Macintosh PowerPoint</Application>
  <PresentationFormat>On-screen Show (4:3)</PresentationFormat>
  <Paragraphs>510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AIUB — Dept. of Computer Science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Software Architecture &amp; Design Patterns</dc:subject>
  <dc:creator>MD. Al-Amin</dc:creator>
  <cp:lastModifiedBy>Md Al Amin</cp:lastModifiedBy>
  <cp:revision>88</cp:revision>
  <dcterms:created xsi:type="dcterms:W3CDTF">2026-06-11T11:40:33Z</dcterms:created>
  <dcterms:modified xsi:type="dcterms:W3CDTF">2026-06-14T10:00:34Z</dcterms:modified>
</cp:coreProperties>
</file>