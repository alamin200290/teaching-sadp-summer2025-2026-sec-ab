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62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02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1417320"/>
          </a:xfrm>
          <a:prstGeom prst="rect">
            <a:avLst/>
          </a:prstGeom>
          <a:solidFill>
            <a:srgbClr val="3C3F4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603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Foundations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CSC 4273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of Computer Science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of Science and Technology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ARCHITECTURE &amp; DESIGN PATTERN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138160" cy="7680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25-26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MD. Al-Amin &lt;alamin@aiub.edu&gt;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is Software Architecture vs. Design?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SOLID Principles with TypeScript examples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4+1 architectural view model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Quality Attributes (the ‘-ilities’) and their real-world costs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Architectural trade-offs — the CAP theorem</a:t>
            </a:r>
            <a:endParaRPr lang="en-US" sz="16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UniRide running project — our worked example all semester</a:t>
            </a:r>
            <a:endParaRPr lang="en-US" sz="16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Week-1 &amp; Part-1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1 LEARNING GOALS — By the end of Part 1,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the difference between software architecture and software design with concrete examples.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Name and describe all five SOLID principles and identify violations in given code.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Apply SRP and OCP in TypeScript by refactoring a violating example.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Describe the 4+1 view model and explain what audience each view serves.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Introduce the UniRide running project and map its first architectural decisions.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PROJECT — UniRide: AIUB Campus Ride-Sharing Platform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UNIRIDE?  A mobile ride-sharing platform for AIUB students and staff.</a:t>
            </a:r>
            <a:endParaRPr lang="en-US" sz="1600" dirty="0"/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post ride requests (pickup + destination); drivers accept and fulfil them.</a:t>
            </a:r>
            <a:endParaRPr lang="en-US" sz="1600" dirty="0"/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tracks the active ride; payment is processed in-app.</a:t>
            </a:r>
            <a:endParaRPr lang="en-US" sz="1600" dirty="0"/>
          </a:p>
          <a:p>
            <a:pPr marL="685800" lvl="1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fire at each step: request, acceptance, arrival, completion.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(each choice justified with an ADR as the course progresses):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Mobile: React Native   </a:t>
            </a: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Node.js + TypeScript + Express </a:t>
            </a: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DB: PostgreSQL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Cache/real-time: Redis  </a:t>
            </a: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Notifications: FCM (push) + Twilio (SMS)</a:t>
            </a:r>
            <a:endParaRPr lang="en-US" sz="1600" dirty="0"/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Infra: Docker + AWS EC2 (one server to start — we will scale it)  </a:t>
            </a: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 JWT + OAuth2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endParaRPr lang="en-US" sz="1600" i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UNIRIDE?  Real-time data, payments, matching logic, notifications, mobile + web clients,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clear scaling pressure — complex enough to justify every pattern and style in the course.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Architecture vs. Design: Where Is the Line?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1851710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High-level structure of a system.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Component relationships &amp; boundaries.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Technology choices &amp; constraints.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Quality-attribute decisions.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Hard to change later.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1860754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Low-level implementation decisions.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 structures &amp; patterns.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Algorithms &amp; data structures.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Refactoring &amp; code organisation.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Easier to change iteratively.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60716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14246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Both inform each other — the line is about cost and reach of change, not importance.</a:t>
            </a:r>
            <a:endParaRPr lang="en-US" sz="11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or Design? — Worked Examples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37142"/>
              </p:ext>
            </p:extLst>
          </p:nvPr>
        </p:nvGraphicFramePr>
        <p:xfrm>
          <a:off x="502920" y="1133856"/>
          <a:ext cx="8138160" cy="34137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Verdict &amp; why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REST vs. GraphQL for the API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ARCHITECTURE — every client integration is affected; changing it later breaks all consumers.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Renaming getUserById()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DESIGN — a refactor a modern IDE does in seconds.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Sessions in Redis vs. database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ARCHITECTURE — affects how every app server scales; changing it needs data migration.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map() instead of a for-loop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DESIGN — a local code-style choice with no structural impact.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Monolith vs. microservices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ARCHITECTURE — changes team topology, CI/CD, deployment, and monitoring.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Factory pattern in one module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DESIGN — a local pattern choice; refactoring touches nothing outside that module.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TypeScript over JavaScript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BORDERLINE — language choice constrains the whole team (arch); usage patterns are design.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Applying the Architecture vs. Design Distinction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ARCHITECTURAL DECISIONS for UniRide this semester (hard to reverse):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Monolith to start, or microservices from day one? (team, deployment, scaling — Week 6)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REST or WebSocket for real-time driver location? (affects every client — Week 10)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PostgreSQL for transactional + Redis for real-time data? (polyglot persistence / CAP — today)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JWT for stateless authentication? (affects every endpoint — Week 9)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DESIGN DECISIONS (cheap to revisit each sprint):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 names: RideService, MatchingEngine, NotificationDispatcher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Factory pattern for notification types; Repository pattern for DB isolation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Strategy pattern for the matching algorithm (nearest vs. best-rated)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The 4+1 View Model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Logical View</a:t>
            </a:r>
            <a:endParaRPr lang="en-US" sz="16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Functional decomposition; class/object models. Audience: developers, domain experts.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00984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2424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92424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Process View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47288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Concurrency, threads, processes, synchronisation. Audience: integrators, performance engineers.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9048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0488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0488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Development View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45352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Module organisation, packages, build structure. Audience: developers, project managers.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4360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Physical View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9224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Deployment, nodes, hardware mapping. Audience: DevOps, infrastructure engineers.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300984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392424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C2790F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92424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+1 Scenarios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447288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Key use cases that tie the four views together and validate them. A view that cannot support a scenario reveals an architectural gap.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99048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90488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7A4FA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90488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Why four views?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45352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 single diagram serves every stakeholder. Each view answers a different audience’s question about the same system.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4+1 Walk-through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User, Driver, Vehicle, RideRequest, Route, Payment, Rating; a Driver has a Vehicle, a Ride has a Route + Payment.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6DB5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Submit → MatchingEngine → driver notified (FCM) → GPS thread tracks → complete → payment → rating. Matching runs within a 2s timeout.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0808E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RN app → HTTPS → AWS ALB → EC2 (Node API) → PostgreSQL RDS + Redis ElastiCache. Week 6 expands to many EC2 behind the LB.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/src/auth, /rides, /matching, /notifications, /payments, /drivers — each independently testable (maps to SRP).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790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+1 Scenarios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(1) book a ride, (2) driver accepts, (3) payment fails → ride cancelled. Each must trace through all four views.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— The Backbone of Good Design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31125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31125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444752" y="1207008"/>
            <a:ext cx="7196328" cy="921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class should have only one reason to change.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2379269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379269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444752" y="2275027"/>
            <a:ext cx="7196328" cy="921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Open for extension, closed for modification.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344728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4472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444752" y="3343046"/>
            <a:ext cx="7196328" cy="921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Subtypes must be substitutable for their base types.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02920" y="4515307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7A4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515307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444752" y="4411066"/>
            <a:ext cx="7196328" cy="921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Clients shouldn’t depend on interfaces they don’t use.</a:t>
            </a:r>
            <a:endParaRPr lang="en-US" sz="15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5583326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C279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58332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444752" y="5479085"/>
            <a:ext cx="7196328" cy="921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500" dirty="0">
              <a:latin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Depend on abstractions, not concretions.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— What Each Principle Enables / Reduces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6870"/>
              </p:ext>
            </p:extLst>
          </p:nvPr>
        </p:nvGraphicFramePr>
        <p:xfrm>
          <a:off x="502920" y="1133856"/>
          <a:ext cx="8138160" cy="2621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Principle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Enables / reduces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 — Single Responsibility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Enables small, focused classes. Reduces side-effect bugs when changing code.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 — Open / Closed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Enables Strategy, Decorator, Factory. Reduces regression risk.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 — Liskov Substitution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Enables correct polymorphism. Reduces runtime surprises from subtype misuse.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I — Interface Segregation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Enables lean interfaces. Reduces forced dependencies on unused functionality.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 — Dependency Inversion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Enables testability and swappable implementations. The foundation of every DI framework.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— Single Responsibility Principle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“A class should have one, and only one, reason to change.” — Robert C. Martin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Violation: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UserService that saves to the DB, sends welcome emails, AND generates PDF reports — three teams touch one file; one team’s change breaks another’s.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Three classes: UserRepository (DB only), EmailService (email only), ReportGenerator (reporting only). Each has one owner and one reason to change.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Practical test: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“If I describe this class using the word AND, it violates SRP.”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SRP in TypeScript — Bad vs. Good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657600"/>
          </a:xfrm>
          <a:prstGeom prst="roundRect">
            <a:avLst>
              <a:gd name="adj" fmla="val 15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one class does too much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saveUser(u: User): void { /* db logic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sendWelcomeEmail(u: User): void { /* email logic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generateReport(us: User[]): string { /* report logic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each class has one responsibility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UserRepository { save(u: User): void {/* db only */}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EmailService  { sendWelcome(u: User): void {/* email only */}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ReportGenerator { generate(us: User[]): string {/* report only */} 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901184"/>
            <a:ext cx="813816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gives independent deployability, testability, and clear team ownership — each file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has exactly one reason to change.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SRP Application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BAD: a monolithic RideService that matches drivers, processes payments, AND sends notifications.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GOOD: split by responsibility —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RideService (ride lifecycle only)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MatchingEngine (driver-selection algorithm)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PaymentService (charging and refunds)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NotificationDispatcher (SMS / Push / Email routing)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matching algorithm changes constantly — we A/B test ‘nearest’ vs. ‘highest-rated’ vs. ‘cheapest’.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Isolated in MatchingEngine, every experiment carries zero risk to payment or notification code.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— Open / Closed Principle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“Software entities should be open for extension, but closed for modification.” — Meyer / Martin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Violation: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PaymentProcessor with an if-else chain: if (type==='card') … else if (type==='bkash') … Every new method reopens and edits this file — high regression and merge-conflict risk.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a PaymentGateway interface; CardGateway, BkashGateway, CryptoGateway each implement it. CheckoutService uses the interface and never changes when a provider is added.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Key phrase: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“Adding new behaviour should add new code, not change existing code.”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OCP Application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UniRide must support bKash, Visa/Mastercard, and potentially Nagad.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WRONG: a PaymentService with if-else per provider — modified every time a new one is added.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RIGHT: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PaymentProvider interface with charge() and refund()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BkashProvider, CardProvider, NagadProvider all implement PaymentProvider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CheckoutService.pay(provider: PaymentProvider) — never changes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Real-world echo: this is exactly how Stripe built their SDK — swap Stripe for Braintree by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changing one injected line. CheckoutService doesn’t know or care which provider it uses.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— Liskov Substitution Principle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“Subtypes must be substitutable for their base types without altering program correctness.” — Liskov (1987)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Classic violation: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Square extends Rectangle. setWidth(5) then setHeight(10) is valid for a rectangle, but a ‘square’ with different sides is no longer a square — the subtype breaks the parent’s contract.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Practical test: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“Wherever a Vehicle is accepted, can I pass a Car, Motorbike, or Rickshaw without anything breaking?” If not — LSP is violated.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Violation signal: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subclass overrides a method to throw NotImplementedException or do nothing. If a method can’t be honoured, don’t inherit it — use a separate interface.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LSP Application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Vehicle base class → Car, Motorbike, Rickshaw subtypes. MatchingEngine calls getLocation()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and getCapacity() on any Vehicle.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LSP VIOLATION: Rickshaw overrides getLocation() to throw (no GPS hardware) — this breaks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MatchingEngine, which assumed every Vehicle has a location.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LSP FIX: split into two interfaces —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Vehicle: getCapacity(), getType()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GPSTracked: getLocation()  — only GPS-equipped vehicles implement it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MatchingEngine uses GPSTracked for location; rickshaws are filtered out upstream, not by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crashing at run time.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— Interface Segregation Principle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“Clients should not be forced to depend on interfaces they do not use.” — Robert C. Martin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Violation: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fat IUser interface: login(), logout(), updateProfile(), uploadDoc(), generateReport(), exportInvoice(). The mobile app must implement generateReport() though it never calls it.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Split into Authenticatable (login/logout), ProfileManageable (updateProfile), Reportable (generateReport). The mobile app implements only what it uses.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smell: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Empty or throwing method implementations are the tell-tale sign an interface is too fat.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ISP Application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BAD: a fat IUser with requestRide(), acceptRide(), payForRide(), manageDriverProfile(),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viewEarnings(), manageFleet() — a student is forced to implement driver-only methods.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GOOD: split by role —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IRideRequester:  requestRide(), cancelRide(), trackRide(), rateDriver()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IDriver:         acceptRide(), startRide(), endRide(), viewEarnings()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mbria" panose="02040503050406030204" pitchFamily="18" charset="0"/>
                <a:ea typeface="Consolas" pitchFamily="34" charset="-122"/>
                <a:cs typeface="Consolas" pitchFamily="34" charset="-120"/>
              </a:rPr>
              <a:t>IFleetManager:   addVehicle(), removeVehicle(), viewDriverStats()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Students implement only IRideRequester; drivers add IDriver; admins implement IFleetManager.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Dependency Inversion Principle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“High-level modules should not depend on low-level modules. Both should depend on abstractions.” — Robert C. Martin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This is why every serious backend framework ships a DI container — NestJS @Injectable(), Spring @Autowired, Laravel’s IoC. DIP is their theoretical foundation.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Violation: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RideService does const repo = new PostgresRideRepository() inside a method — now it is forever coupled to PostgreSQL and cannot be tested without a real database.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constructor(private repo: RideRepository) {} — inject the abstraction. Tests inject a mock; production injects Postgres. RideService neither knows nor cares which.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Week-1 &amp; Part-2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2 LEARNING GOALS — By the end of Part 2,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Narrate the OCP and DIP TypeScript code examples fluently from first principles.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Name the six quality attributes, give a real-world failure story for each, and explain how they drive architectural decisions.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State the CAP theorem, define all three properties precisely, and categorise real databases by their CAP choice.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Apply the CAP theorem to UniRide’s data domains and justify polyglot persistence.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Map UniRide’s SOLID and quality-attribute decisions onto its module structure.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OCP + DIP in TypeScript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663440"/>
          </a:xfrm>
          <a:prstGeom prst="roundRect">
            <a:avLst>
              <a:gd name="adj" fmla="val 1176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Abstraction — both OCP and DIP depend on this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PaymentProcessor { process(amount: number): boolean;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 for extension — new processors, no edits to existing code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StripeProcessor implements PaymentProcessor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process(a: number) { return true; /* Stripe API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CryptoProcessor implements PaymentProcessor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process(a: number) { return true; /* Crypto API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DIP — CheckoutService depends on the abstraction, not a concretion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CheckoutService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processor: PaymentProcessor)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checkout(a: number) { return this.processor.process(a);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svc = new CheckoutService(new StripeProcessor());  // inject any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0702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OCP: adding CryptoProcessor requires ZERO changes to CheckoutService. DIP: the high-level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depends on the interface, not the implementation.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DIP: the key to testability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840480"/>
          </a:xfrm>
          <a:prstGeom prst="roundRect">
            <a:avLst>
              <a:gd name="adj" fmla="val 1429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High-level module — business logic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RideService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rideRepo: RideRepository,        // abstraction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matchingEngine: MatchingEngine,  // abstraction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notifier: NotificationService,   // abstraction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Low-level modules — concrete implementations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PostgresRideRepository implements RideRepository { /* ...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NearestDriverMatcher implements MatchingEngine    { /* ...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FCMNotificationService implements NotificationService { /* ... */ 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084064"/>
            <a:ext cx="81381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inject MockRideRepository + a test notifier — no real DB, no real FCM. Swapping: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NearestDriverMatcher with MLBasedMatcher — zero changes to RideService.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OCP + DIP in the Payment Module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297680"/>
          </a:xfrm>
          <a:prstGeom prst="roundRect">
            <a:avLst>
              <a:gd name="adj" fmla="val 1277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PaymentGateway {                       // the abstraction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charge(userId: string, amountBDT: number): Promise&lt;PaymentResult&gt;;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refund(transactionId: string): Promise&lt;void&gt;;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BkashGateway  implements PaymentGateway { }   // Week 1: supported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StripeGateway implements PaymentGateway { }   // Week 3: added, no edits elsewhere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WalletGateway implements PaymentGateway { }   // Week 8: added, no edits elsewhere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PaymentService {                           // never imports a gateway directly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gateway: PaymentGateway)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which gateway = an architectural decision, set by config not code: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gateway = env.PAYMENT_PROVIDER === 'bkash'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new BkashGateway(cfg.bkash) : new StripeGateway(cfg.stripe);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541264"/>
            <a:ext cx="813816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Nagad next quarter = write NagadGateway + update .env. PaymentService, the controller,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test stay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Module Structure: SRP at Architecture Scale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rides/       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RideRepository.ts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(interface)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PostgresRideRepository.ts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RideService.ts</a:t>
            </a:r>
            <a:endParaRPr lang="en-US" sz="12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matching/    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MatchingEngine.ts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(interface)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NearestDriverMatcher.ts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HighestRatedMatcher.ts</a:t>
            </a:r>
            <a:endParaRPr lang="en-US" sz="12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notifications/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(interface)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FCMNotification.ts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SMSNotification.ts</a:t>
            </a:r>
            <a:endParaRPr lang="en-US" sz="1200" dirty="0"/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payments/    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PaymentGateway.ts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(interface)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BkashGateway.ts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</a:p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00" dirty="0" err="1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StripeGateway.ts</a:t>
            </a:r>
            <a:endParaRPr lang="en-US" sz="12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ONE REASON TO CHANGE:</a:t>
            </a:r>
            <a:endParaRPr lang="en-US" sz="1200" dirty="0"/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PostgresRideRepository → DB schema changes. NearestDriverMatcher → the algorithm improves.</a:t>
            </a:r>
            <a:endParaRPr lang="en-US" sz="1200" dirty="0"/>
          </a:p>
          <a:p>
            <a:pPr marL="685800" lvl="1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FCMNotification → Firebase API changes. BkashGateway → bKash SDK changes.</a:t>
            </a:r>
            <a:endParaRPr lang="en-US" sz="1200" dirty="0"/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changes touches any other file — this is SRP at MODULE scale, not just class design.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Quality Attributes (Non-Functional Requirements)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Handle growing load by adding resources — without redesign.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00984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2424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92424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47288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Proportion of time the system is operational (the ‘nines’).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9048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0488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B03A36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0488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45352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Protect against unauthorised access, modification, and attack.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4360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9224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Ease of modifying, fixing, and extending the system.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300984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392424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C2790F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92424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447288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Response time, throughput, and latency under load.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99048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90488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90488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45352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Probability of correct operation over time (correctness, not just uptime).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Scalability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ability to handle increased load by adding resources, without degrading performance or requiring redesign.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Vertical vs. horizontal: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Vertical (scale up) = a bigger server — a hard upper limit. Horizontal (scale out) = more servers — near-infinite, but requires stateless design.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Failure story: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Twitter’s 2008 ‘Fail Whale’: a Rails monolith on a shared relational DB collapsed under event spikes. The fix took a 3-year migration to a distributed system.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Implication: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Stateless API servers scale behind a load balancer; stateful services need sharding or replication. Scalability is decided up front, not optimised in at the end.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Scalability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Target: 5,000 concurrent users during AIUB convocation (the peak event).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API must be stateless — no session data in a server’s memory.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Sessions live in Redis, shared across all API instances.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Behind an AWS ALB, we add a second EC2 instance in minutes — no code changes.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Without this decision now, adding a second server later would force a major refactor.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Availability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proportion of time the system is operational and accessible (99.9% ≈ 8.76 hours of downtime per year).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nines: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99.9% = 8.76 </a:t>
            </a:r>
            <a:r>
              <a:rPr lang="en-US" sz="1550" dirty="0" err="1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hrs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/yr · 99.99% = 52 min/yr · 99.999% = 5 min/yr. Each extra ‘9’ is exponentially harder and more expensive.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Failure story: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Feb 2017 Amazon S3 outage: one mistyped maintenance command cascaded for 4+ hours, taking down a huge slice of the internet — hundreds of millions in losses.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Implication: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Availability requires redundancy at every layer — servers, replicas, multi-AZ, circuit breakers. One machine is a single point of failure.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Availability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Target: 99.9% (max 8.76 hours downtime per year). Achieved through: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AWS Auto Scaling Group: min 2 EC2 instances, max 8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PostgreSQL RDS with a Multi-AZ standby replica (automatic failover &lt; 60s)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Redis ElastiCache with one replica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ALB health checks remove unhealthy instances within 30 seconds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single-server UniRide would realistically reach only ~95–98% — EC2 patch reboots alone would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consume the entire downtime budget.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Security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ability to protect data and services from unauthorised access, modification, or destruction.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Failure story: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Equifax, July 2017: 147 million records exposed because a known Apache Struts vulnerability sat unpatched for two months. The fix existed — it just wasn’t applied. Cost: $1.4 billion.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Key principle: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Security is not a feature added at the end — it is a set of day-one architectural decisions: authn, authz, encryption at rest and in transit, input validation, dependency scanning, secret management.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Security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Auth: short-lived JWT (15 min) + refresh tokens (7 days) in HttpOnly cookies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Transport: HTTPS everywhere — no HTTP endpoints, ever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 at rest: PostgreSQL column-level encryption for payment data (PCI-DSS)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Secrets: AWS Secrets Manager — no credentials in code or committed .env files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Dependencies: npm audit in CI/CD — the build fails on high-severity vulnerabilities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PII: phone numbers and location history deleted after 90 days (PDPA)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Decision: we never store raw card numbers — we tokenise via bKash/Stripe and keep only the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transaction reference. Zero PCI-DSS card-data scope.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— Maintainability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ease with which a system can be modified to fix bugs, improve performance, add features, or adapt to change.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Failure story: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Facebook’s PHP monolith (c. 2011): hundreds of engineers on one shared codebase, where a news-feed change could break photo upload. Years were spent migrating to a modular architecture.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Technical debt: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Fowler estimates teams in a high-debt codebase spend 40–50% of their time managing the debt rather than adding value — it is the compounding interest on shortcuts.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Maintainability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SOLID throughout — each module has one reason to change (SRP)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TypeScript strict mode — type errors caught at compile time, not in production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80%+ test coverage target — confident refactoring without regressions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ADR documentation — future engineers understand WHY decisions were made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OpenAPI (Swagger) specs — API contracts documented and validated automatically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LONG-TERM PAYOFF: adding ‘scheduled rides’ later means one new SchedulingService — without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touching RideService, PaymentService, or MatchingEngine.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— Performance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responsiveness of the system — latency (time per request), throughput (requests/second), and resource utilisation under load.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100ms rule: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Google: +100ms of search latency = −1% search volume. Amazon: +100ms = −1% sales (≈$1.6B/yr). Slowing Google Images to load more results cut traffic 25%.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Perception thresholds: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&lt;100ms feels instant · 100ms–1s responsive · 1–10s slow · &gt;10s broken. Design API responses to &lt;200ms under normal load.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Performance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Measurable targets (NFRs):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Driver location update: &lt; 500ms from GPS ping to app display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Ride matching: &lt; 2s to return the best driver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API response (p99): &lt; 300ms for all endpoints under 500 concurrent users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 startup: &lt; 3s on a mid-range Android device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Architectural decisions these targets drive: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Location via WebSocket/MQTT, not polling (polling = 10,000 req/s at 5,000 users)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Driver locations cached in Redis (&lt;1ms) not queried from PostgreSQL (3–10ms)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Matching runs in-process, not as a separate call (saves 50–100ms round-trip)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— Reliability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probability that the system performs correctly under stated conditions for a period of time. Reliability = correctness over time; availability = uptime.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Reliability vs. availability: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system can be 100% available yet unreliable — always responding, but sometimes with wrong answers. Production needs both.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Failure story: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NASA’s Mars Climate Orbiter (1999): one team used metric units, another imperial, for thruster data. The $327.6M craft burned up. Root cause: no type checking, no unit validation.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Reliability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TypeScript strict types prevent unit/type mismatches at compile time (the NASA lesson)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 money stored as integers (poisha) — no floating-point arithmetic on currency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Idempotency keys on every payment request — a retried charge is processed once, never twice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Database transactions for multi-step operations — a booking creates the RideRequest AND the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payment hold atomically; never one without the other.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The CAP Theorem</a:t>
            </a:r>
            <a:r>
              <a:rPr lang="en-US" sz="16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400" i="1" dirty="0">
                <a:solidFill>
                  <a:srgbClr val="C9CCD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Brewer, 2000 · you can guarantee only two of the three at once</a:t>
            </a:r>
            <a:endParaRPr lang="en-US" sz="24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2542032" cy="1777352"/>
          </a:xfrm>
          <a:prstGeom prst="roundRect">
            <a:avLst>
              <a:gd name="adj" fmla="val 1799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2249424" cy="11565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read returns the most recent write (or an error). All nodes see the same data at the same time.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00984" y="1207008"/>
            <a:ext cx="2542032" cy="1777352"/>
          </a:xfrm>
          <a:prstGeom prst="roundRect">
            <a:avLst>
              <a:gd name="adj" fmla="val 1799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2424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92424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47288" y="1737360"/>
            <a:ext cx="2249424" cy="11565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Every request to a non-failing node gets a response — possibly stale, but never an error.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9048" y="1207008"/>
            <a:ext cx="2542032" cy="1777352"/>
          </a:xfrm>
          <a:prstGeom prst="roundRect">
            <a:avLst>
              <a:gd name="adj" fmla="val 1799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0488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C2790F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0488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Partition Tolerance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45352" y="1737360"/>
            <a:ext cx="2249424" cy="11565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system keeps operating even when network messages between nodes are lost or delayed.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— The Three Properties, Precisely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190245"/>
              </p:ext>
            </p:extLst>
          </p:nvPr>
        </p:nvGraphicFramePr>
        <p:xfrm>
          <a:off x="502920" y="1133856"/>
          <a:ext cx="813816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Precise definition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Consistency (C)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Every read returns the most recent write or an error; all nodes see the same data at the same time. (NOT the same as ACID consistency.)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Availability (A)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Every request reaching a non-failing node gets a response — never an error. It may be stale, but the system is always up.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Partition Tolerance (P)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system keeps running when the network splits (Node A can’t reach Node B). In any real distributed system, partitions WILL happen.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Systems and Their CAP Choice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004723"/>
              </p:ext>
            </p:extLst>
          </p:nvPr>
        </p:nvGraphicFramePr>
        <p:xfrm>
          <a:off x="502920" y="1133856"/>
          <a:ext cx="8138160" cy="33680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8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8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Why it makes sense</a:t>
                      </a:r>
                      <a:endParaRPr lang="en-US" sz="18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Financial data must be consistent; during a partition it refuses writes rather than risk inconsistency.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Redis Cluster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Cache hits should always succeed; a slightly stale value is usually fine, unavailability is not.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Cassandra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Write-heavy at massive scale (Apple, Netflix); eventual consistency — nodes agree eventually.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Primary handles writes; secondaries can serve stale reads. Tunable, but CP by default for writes.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DynamoDB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Eventual consistency by default; strong consistency is available per-read at 2× cost and latency.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Zookeeper / HBase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Coordination services must be consistent — they go unavailable rather than give stale results.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CAP Decisions: Polyglot Persistence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Driver location (updated every 2s):  AP — Redis Cluster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1–2s stale location is fine; ‘Unable to load map’ during a hiccup is not.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Payment transactions:  CP — PostgreSQL with ACID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double-charge or a lost charge is catastrophic; during a partition we fail the payment, not risk it.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User profiles:  AP — PostgreSQL primary + read replicas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2s delay for a profile edit to propagate is invisible; replicas serve 90% of reads.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Ride state (active/completed/cancelled):  CP — PostgreSQL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Two servers must never disagree about whether a ride is active. State must be consistent.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7A34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Four data domains, two databases, two CAP trade-offs — a deliberate decision, not a compromise.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Week 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4081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408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44168" y="1225296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= high-level structure; design = lower-level implementation decisions.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46888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4168" y="2286000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reduces coupling and increases cohesion — essential for systems that scale.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52958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44168" y="3346704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 (scalability, availability, security…) drive all major architectural decisions.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44168" y="4407408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choice is a trade-off — the CAP theorem is the classic example.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5650992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44168" y="5468112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4+1 view model gives structured ways to document and communicate architecture.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Reading &amp; References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1207008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0" y="1207008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Patterns: Elements of Reusable OO Software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Helm, Johnson, Vlissides (1994)  ·  Ch. 1–2  ·  introduction to patterns and design thinking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542032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91640" y="2542032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0" y="2542032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in Practice, 3rd ed.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Bass, Clements &amp; Kazman (2012)  ·  Ch. 1–4  ·  architecture definition, quality attributes, views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3877056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691640" y="3877056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28800" y="3877056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C. Martin (2017)  ·  Ch. 7–11  ·  SOLID principles and component cohesion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2120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DDIA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691640" y="5212080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0" y="5212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Data-Intensive Applications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Kleppmann (2017)  ·  Ch. 9  ·  CAP theorem, consistency, availability trade-offs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5374</Words>
  <Application>Microsoft Macintosh PowerPoint</Application>
  <PresentationFormat>On-screen Show (4:3)</PresentationFormat>
  <Paragraphs>576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AIUB — Dept.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Software Architecture &amp; Design Patterns</dc:subject>
  <dc:creator>MD. Al-Amin</dc:creator>
  <cp:lastModifiedBy>Md Al Amin</cp:lastModifiedBy>
  <cp:revision>64</cp:revision>
  <dcterms:created xsi:type="dcterms:W3CDTF">2026-06-11T11:46:03Z</dcterms:created>
  <dcterms:modified xsi:type="dcterms:W3CDTF">2026-06-13T11:40:55Z</dcterms:modified>
</cp:coreProperties>
</file>