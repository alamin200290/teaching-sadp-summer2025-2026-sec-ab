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0" r:id="rId31"/>
    <p:sldId id="265" r:id="rId11"/>
    <p:sldId id="266" r:id="rId12"/>
    <p:sldId id="281" r:id="rId32"/>
    <p:sldId id="267" r:id="rId13"/>
    <p:sldId id="268" r:id="rId14"/>
    <p:sldId id="269" r:id="rId15"/>
    <p:sldId id="282" r:id="rId33"/>
    <p:sldId id="270" r:id="rId16"/>
    <p:sldId id="271" r:id="rId17"/>
    <p:sldId id="283" r:id="rId34"/>
    <p:sldId id="272" r:id="rId18"/>
    <p:sldId id="273" r:id="rId19"/>
    <p:sldId id="284" r:id="rId35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20222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0"/>
            <a:ext cx="5486400" cy="1417320"/>
          </a:xfrm>
          <a:prstGeom prst="rect">
            <a:avLst/>
          </a:prstGeom>
          <a:solidFill>
            <a:srgbClr val="3C3F4C">
              <a:alpha val="50000"/>
            </a:srgbClr>
          </a:solidFill>
          <a:ln/>
        </p:spPr>
      </p:sp>
      <p:pic>
        <p:nvPicPr>
          <p:cNvPr id="4" name="Image 0" descr="/home/claude/ai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256032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01168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&amp; Cloud-Native Patterns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CSC 4273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1417320"/>
            <a:ext cx="9144000" cy="64008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874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Dept. of Computer Science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24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of Science and Technology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02920" y="28803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Title: SOFTWARE ARCHITECTURE &amp; DESIGN PATTERN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92040"/>
          <a:ext cx="8138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697480"/>
                <a:gridCol w="1280160"/>
                <a:gridCol w="2788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Lecturer No: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No: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Semester: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Summer 25-26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Lecturer: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MD. Al-Amin &lt;alamin@aiub.edu&gt;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</p:sp>
      <p:pic>
        <p:nvPicPr>
          <p:cNvPr id="4" name="Image 0" descr="/home/claude/ai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Outline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microservices? Monolith pain points and the trade-offs</a:t>
            </a:r>
            <a:endParaRPr lang="en-US" sz="18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principles &amp; decomposition strategy</a:t>
            </a:r>
            <a:endParaRPr lang="en-US" sz="18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— the single entry point</a:t>
            </a:r>
            <a:endParaRPr lang="en-US" sz="18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 (EDA) with a message broker</a:t>
            </a:r>
            <a:endParaRPr lang="en-US" sz="18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&amp; Saga — resilience and distributed transactions</a:t>
            </a:r>
            <a:endParaRPr lang="en-US" sz="18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Netflix / Uber migration lessons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</p:sp>
      <p:pic>
        <p:nvPicPr>
          <p:cNvPr id="4" name="Image 0" descr="/home/claude/ai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Week-6 &amp; Part-1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LEARNING GOALS — By the end of Part 1, you will be able to:</a:t>
            </a:r>
            <a:endParaRPr lang="en-US" sz="1500" dirty="0"/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monolith pain points that motivate microservices — and the trade-offs in return.</a:t>
            </a:r>
            <a:endParaRPr lang="en-US" sz="1500" dirty="0"/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core microservices principles and a decomposition strategy.</a:t>
            </a:r>
            <a:endParaRPr lang="en-US" sz="1500" dirty="0"/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API Gateway pattern and the cross-cutting concerns it centralises.</a:t>
            </a:r>
            <a:endParaRPr lang="en-US" sz="1500" dirty="0"/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UniRide’s modular monolith into well-bounded services.</a:t>
            </a:r>
            <a:endParaRPr lang="en-US" sz="1500" dirty="0"/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a microservices-vs-monolith decision using quality attributes (CO1).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</p:sp>
      <p:pic>
        <p:nvPicPr>
          <p:cNvPr id="4" name="Image 0" descr="/home/claude/ai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PROJECT — UniRide: Week 6 Context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Weeks 1–5 UniRide became a well-structured MODULAR MONOLITH — layered, MVC, with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creational, structural, and behavioural patterns inside it. Now the scaling question: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how should those modules become independently deployable SERVICES?</a:t>
            </a:r>
            <a:endParaRPr lang="en-US" sz="1250" dirty="0"/>
          </a:p>
          <a:p>
            <a:pPr lvl="1" marL="6858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 — split UniRide into auth, matching, ride, payment, notification services</a:t>
            </a:r>
            <a:endParaRPr lang="en-US" sz="1250" dirty="0"/>
          </a:p>
          <a:p>
            <a:pPr lvl="1" marL="6858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  — one entry point for the mobile app; centralises auth, rate-limit, routing</a:t>
            </a:r>
            <a:endParaRPr lang="en-US" sz="1250" dirty="0"/>
          </a:p>
          <a:p>
            <a:pPr lvl="1" marL="6858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          — promote Week 5’s in-process Observer to a real message broker</a:t>
            </a:r>
            <a:endParaRPr lang="en-US" sz="1250" dirty="0"/>
          </a:p>
          <a:p>
            <a:pPr lvl="1" marL="6858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Breaker— stop a failing payment provider from taking down the whole app</a:t>
            </a:r>
            <a:endParaRPr lang="en-US" sz="1250" dirty="0"/>
          </a:p>
          <a:p>
            <a:pPr lvl="1" marL="6858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          — keep a booking consistent across services without a distributed lock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honesty: microservices are a TRADE-OFF, not an upgrade — we teach when NOT to use them too.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</p:sp>
      <p:pic>
        <p:nvPicPr>
          <p:cNvPr id="4" name="Image 0" descr="/home/claude/ai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Microservices? The Monolith Pain Points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SUCCESSFUL monolith starts to hurt at scale:</a:t>
            </a:r>
            <a:endParaRPr lang="en-US" sz="15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— only the matching engine is hot, but you must scale the ENTIRE app to add capacity.</a:t>
            </a:r>
            <a:endParaRPr lang="en-US" sz="15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— a one-line notification change forces a full redeploy; releases are risky.</a:t>
            </a:r>
            <a:endParaRPr lang="en-US" sz="15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— a memory leak in one module can crash the whole process, including payments.</a:t>
            </a:r>
            <a:endParaRPr lang="en-US" sz="15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friction — 40 engineers on one codebase create merge and coordination bottlenecks.</a:t>
            </a:r>
            <a:endParaRPr lang="en-US" sz="15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lock-in — one runtime for everything; no better tool per module.</a:t>
            </a:r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exact problems Netflix, Uber, and Amazon solved by moving to microservices (2011–2014).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</p:sp>
      <p:pic>
        <p:nvPicPr>
          <p:cNvPr id="4" name="Image 0" descr="/home/claude/ai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Microservices Are a Trade-off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207008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2E7D46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2070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IMPROVE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1755648"/>
            <a:ext cx="3931920" cy="4645152"/>
          </a:xfrm>
          <a:prstGeom prst="roundRect">
            <a:avLst>
              <a:gd name="adj" fmla="val 930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" y="1865376"/>
            <a:ext cx="3675888" cy="441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scalability — scale only the hot service.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deployability — ship one service safely.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isolation — one service’s crash is contained.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autonomy — small teams own services end-to-end.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709160" y="1207008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B03A36"/>
          </a:solidFill>
          <a:ln/>
        </p:spPr>
      </p:sp>
      <p:sp>
        <p:nvSpPr>
          <p:cNvPr id="13" name="Text 10"/>
          <p:cNvSpPr/>
          <p:nvPr/>
        </p:nvSpPr>
        <p:spPr>
          <a:xfrm>
            <a:off x="4709160" y="12070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WORSEN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09160" y="1755648"/>
            <a:ext cx="3931920" cy="4645152"/>
          </a:xfrm>
          <a:prstGeom prst="roundRect">
            <a:avLst>
              <a:gd name="adj" fmla="val 930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37176" y="1865376"/>
            <a:ext cx="3675888" cy="441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— a network now sits between modules.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— no easy ACID across services (→ Saga).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— calls cross processes and serialize.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— many deploys, dashboards, traces to run.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</p:sp>
      <p:pic>
        <p:nvPicPr>
          <p:cNvPr id="4" name="Image 0" descr="/home/claude/ai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 of Thumb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well-structured MODULAR MONOLITH.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 service only when a SPECIFIC module has a real, independent scaling or</a:t>
            </a:r>
            <a:endParaRPr lang="en-US" sz="1250" dirty="0"/>
          </a:p>
          <a:p>
            <a:pPr lvl="1" indent="0" marL="0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need.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‘Microservices first’ is an anti-pattern for a small team — you pay all the costs before</a:t>
            </a:r>
            <a:endParaRPr lang="en-US" sz="1250" dirty="0"/>
          </a:p>
          <a:p>
            <a:pPr lvl="1" indent="0" marL="0">
              <a:lnSpc>
                <a:spcPct val="102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any of the problems.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quality-attribute view (ties back to Week 1):</a:t>
            </a:r>
            <a:endParaRPr lang="en-US" sz="1250" dirty="0"/>
          </a:p>
          <a:p>
            <a:pPr lvl="1" marL="6858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answer is the one whose IMPROVED attributes matter more than its WORSENED</a:t>
            </a:r>
            <a:endParaRPr lang="en-US" sz="1250" dirty="0"/>
          </a:p>
          <a:p>
            <a:pPr lvl="1" marL="6858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 for your context — the same trade-off reasoning as the Week 1 quality-attributes lecture.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</p:sp>
      <p:pic>
        <p:nvPicPr>
          <p:cNvPr id="4" name="Image 0" descr="/home/claude/ai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Microservices Principles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207008"/>
            <a:ext cx="3941064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298448"/>
            <a:ext cx="3758184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1298448"/>
            <a:ext cx="3758184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capabilities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9224" y="1737360"/>
            <a:ext cx="3648456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owns one capability (matching, payments, notifications) — not a technical layer. The opposite of layered decomposition.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700016" y="1207008"/>
            <a:ext cx="3941064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1298448"/>
            <a:ext cx="3758184" cy="384048"/>
          </a:xfrm>
          <a:prstGeom prst="roundRect">
            <a:avLst>
              <a:gd name="adj" fmla="val 11905"/>
            </a:avLst>
          </a:prstGeom>
          <a:solidFill>
            <a:srgbClr val="2F6DB5"/>
          </a:solidFill>
          <a:ln/>
        </p:spPr>
      </p:sp>
      <p:sp>
        <p:nvSpPr>
          <p:cNvPr id="14" name="Text 11"/>
          <p:cNvSpPr/>
          <p:nvPr/>
        </p:nvSpPr>
        <p:spPr>
          <a:xfrm>
            <a:off x="4791456" y="1298448"/>
            <a:ext cx="3758184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endpoints, dumb pipes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846320" y="1737360"/>
            <a:ext cx="3648456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lives in services; communication is plain REST or events — not a heavyweight ESB.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2920" y="3931920"/>
            <a:ext cx="3941064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4023360"/>
            <a:ext cx="3758184" cy="384048"/>
          </a:xfrm>
          <a:prstGeom prst="roundRect">
            <a:avLst>
              <a:gd name="adj" fmla="val 11905"/>
            </a:avLst>
          </a:prstGeom>
          <a:solidFill>
            <a:srgbClr val="242852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" y="4023360"/>
            <a:ext cx="3758184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Decentralised data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49224" y="4462272"/>
            <a:ext cx="3648456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owns its database. Others ask via its API or react to its events — never read its tables. This enables independent deployment.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700016" y="3931920"/>
            <a:ext cx="3941064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91456" y="4023360"/>
            <a:ext cx="3758184" cy="384048"/>
          </a:xfrm>
          <a:prstGeom prst="roundRect">
            <a:avLst>
              <a:gd name="adj" fmla="val 11905"/>
            </a:avLst>
          </a:prstGeom>
          <a:solidFill>
            <a:srgbClr val="B03A36"/>
          </a:solidFill>
          <a:ln/>
        </p:spPr>
      </p:sp>
      <p:sp>
        <p:nvSpPr>
          <p:cNvPr id="22" name="Text 19"/>
          <p:cNvSpPr/>
          <p:nvPr/>
        </p:nvSpPr>
        <p:spPr>
          <a:xfrm>
            <a:off x="4791456" y="4023360"/>
            <a:ext cx="3758184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failure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846320" y="4462272"/>
            <a:ext cx="3648456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any call can fail or be slow; build in timeouts, retries, and circuit breakers from day one.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</p:sp>
      <p:pic>
        <p:nvPicPr>
          <p:cNvPr id="4" name="Image 0" descr="/home/claude/ai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Decomposing the Monolith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33856"/>
          <a:ext cx="8138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834640"/>
                <a:gridCol w="3840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is its own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students, drivers, JWT, sessions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Stable; shared by all; security-isolated.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pool, scoring, geo queries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CPU-hot; scales independently at peak.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ride lifecycle, history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domain; owns the ride state machine.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holds, charges, refunds, ledger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PCI-sensitive; isolate the blast radius.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/ SMS / email fan-out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Bursty; must not block the ride path.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</p:sp>
      <p:pic>
        <p:nvPicPr>
          <p:cNvPr id="4" name="Image 0" descr="/home/claude/ai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Find Service Boundaries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BUSINESS CAPABILITIES (or DDD bounded contexts) — not database tables.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of each candidate service:</a:t>
            </a:r>
            <a:endParaRPr lang="en-US" sz="1250" dirty="0"/>
          </a:p>
          <a:p>
            <a:pPr lvl="1" marL="6858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one small team own it end-to-end?</a:t>
            </a:r>
            <a:endParaRPr lang="en-US" sz="1250" dirty="0"/>
          </a:p>
          <a:p>
            <a:pPr lvl="1" marL="6858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it be deployed on its own?</a:t>
            </a:r>
            <a:endParaRPr lang="en-US" sz="1250" dirty="0"/>
          </a:p>
          <a:p>
            <a:pPr lvl="1" marL="6858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it be scaled on its own?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seams are where data ownership is clean and cross-talk is low.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module that constantly needs another module’s tables is NOT a good split — the chatter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become slow network calls. (So UniRide should NOT extract ‘Surge Pricing’ on day one.)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</p:sp>
      <p:pic>
        <p:nvPicPr>
          <p:cNvPr id="4" name="Image 0" descr="/home/claude/ai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 — The Single Entry Point</a:t>
            </a:r>
            <a:pPr algn="l" indent="0" marL="0">
              <a:buNone/>
            </a:pPr>
            <a:r>
              <a:rPr lang="en-US" sz="1600" i="1" dirty="0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Richardson, Microservices Patterns, Ch. 8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Intent: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single entry point that routes each client request to the right service and handles cross-cutting concerns in one place.</a:t>
            </a:r>
            <a:endParaRPr lang="en-US" sz="155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clients (mobile, web) must talk to many services, and you do not want each client to know the service map or repeat auth and rate-limiting.</a:t>
            </a:r>
            <a:endParaRPr lang="en-US" sz="155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Centralises: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authentication (validate the JWT once at the edge), rate limiting, response aggregation, TLS termination, logging, caching.</a:t>
            </a:r>
            <a:endParaRPr lang="en-US" sz="155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BUSINESS logic out of the gateway — it routes and guards; it does not decide fares. Otherwise it becomes a god-object.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</p:sp>
      <p:pic>
        <p:nvPicPr>
          <p:cNvPr id="4" name="Image 0" descr="/home/claude/ai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API Gateway: one door for the app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3657600"/>
          </a:xfrm>
          <a:prstGeom prst="roundRect">
            <a:avLst>
              <a:gd name="adj" fmla="val 1500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1225296"/>
            <a:ext cx="780897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gateway routing table (conceptual)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/v1/rides        →  Ride Service        (after JWT + rate limit)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/v1/drivers/near →  Matching Service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/v1/pay/hold     →  Payment Service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/v1/home         →  aggregates Ride + Matching + Promotions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Express-style edge middleware does auth + rate-limit ONCE: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gateway.use(verifyJwt);          // identity established at the edge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gateway.use(rateLimit(100));     // per-user throttle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gateway.use('/v1/rides', proxyTo(RIDE_SERVICE_URL));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4901184"/>
            <a:ext cx="813816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mobile app talks to ONE host and never learns the internal service map.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AWS API Gateway, Kong, NGINX, Traefik, Express Gateway.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</p:sp>
      <p:pic>
        <p:nvPicPr>
          <p:cNvPr id="4" name="Image 0" descr="/home/claude/ai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Week-6 &amp; Part-2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LEARNING GOALS — By the end of Part 2, you will be able to:</a:t>
            </a:r>
            <a:endParaRPr lang="en-US" sz="1500" dirty="0"/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Event-Driven Architecture and how it differs from in-process Observer.</a:t>
            </a:r>
            <a:endParaRPr lang="en-US" sz="1500" dirty="0"/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Circuit Breaker to prevent cascading failure across services.</a:t>
            </a:r>
            <a:endParaRPr lang="en-US" sz="1500" dirty="0"/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Saga pattern and write a choreography-based saga with compensations.</a:t>
            </a:r>
            <a:endParaRPr lang="en-US" sz="1500" dirty="0"/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the Netflix / Uber migration lessons and the patterns they used.</a:t>
            </a:r>
            <a:endParaRPr lang="en-US" sz="1500" dirty="0"/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distributed-architecture decisions to the UniRide Evolution Tracker.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</p:sp>
      <p:pic>
        <p:nvPicPr>
          <p:cNvPr id="4" name="Image 0" descr="/home/claude/ai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Event-Driven Architecture — React, Don’t Call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Intent: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 services in time and identity — a producer publishes an event and does not know or wait for consumers; consumers subscribe and react.</a:t>
            </a:r>
            <a:endParaRPr lang="en-US" sz="155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Observer, networked: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5’s Observer fanned out IN-PROCESS. EDA moves the same idea ACROSS services via a broker (Kafka, RabbitMQ, EventBridge).</a:t>
            </a:r>
            <a:endParaRPr lang="en-US" sz="155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broker adds: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in-memory list cannot: durability (events survive a crash), delivery guarantees, retries, and replay.</a:t>
            </a:r>
            <a:endParaRPr lang="en-US" sz="155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models: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notification (thin: id only, consumers call back) vs. event-carried state transfer (fat: data travels with the event).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</p:sp>
      <p:pic>
        <p:nvPicPr>
          <p:cNvPr id="4" name="Image 0" descr="/home/claude/ai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EDA: ride events on a broker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3383280"/>
          </a:xfrm>
          <a:prstGeom prst="roundRect">
            <a:avLst>
              <a:gd name="adj" fmla="val 1622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1225296"/>
            <a:ext cx="780897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Ride Service publishes — and is done. It calls no one.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broker.publish('ride.accepted',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rideId: ride.id, studentId: ride.studentId, driverId: driver.id,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Independent consumers, each scaling on its own: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 Service  → 'ride.accepted'  → sends push / SMS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 Service     → 'ride.accepted'  → records a metric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Pricing Service       → 'ride.completed' → settles the fare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4626864"/>
            <a:ext cx="8138160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‘fraud-check’ reaction is a NEW SUBSCRIBER — zero changes to Ride Service. The broker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the event is not lost if a consumer is down.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</p:sp>
      <p:pic>
        <p:nvPicPr>
          <p:cNvPr id="4" name="Image 0" descr="/home/claude/ai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Breaker — Prevent Cascading Failure</a:t>
            </a:r>
            <a:pPr algn="l" indent="0" marL="0">
              <a:buNone/>
            </a:pPr>
            <a:r>
              <a:rPr lang="en-US" sz="1600" i="1" dirty="0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Nygard, Release It! · Netflix Hystrix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cascade: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slow payment provider blocks every booking thread for 30s; the pool exhausts; the Ride Service stops answering ANY request. One slow dependency = full outage.</a:t>
            </a:r>
            <a:endParaRPr lang="en-US" sz="155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CLOSED: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pass through normally; failures are counted.</a:t>
            </a:r>
            <a:endParaRPr lang="en-US" sz="155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 consecutive failures, the breaker trips — calls are rejected INSTANTLY for a cool-down, sparing caller and dependency.</a:t>
            </a:r>
            <a:endParaRPr lang="en-US" sz="155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HALF_OPEN: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cool-down, one trial call is allowed: success → CLOSED; failure → OPEN again. Pair with a fallback for a graceful response.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</p:sp>
      <p:pic>
        <p:nvPicPr>
          <p:cNvPr id="4" name="Image 0" descr="/home/claude/ai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Circuit Breaker: payment protection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846320"/>
          </a:xfrm>
          <a:prstGeom prst="roundRect">
            <a:avLst>
              <a:gd name="adj" fmla="val 1132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1225296"/>
            <a:ext cx="7808976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CircuitState = 'CLOSED' | 'OPEN' | 'HALF_OPEN';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CircuitBreaker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state: CircuitState = 'CLOSED';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failures = 0; private openedAt = 0;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constructor(private threshold = 3, private coolDownMs = 10_000) {}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call&lt;T&gt;(fn: () =&gt; Promise&lt;T&gt;): Promise&lt;T&gt;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(this.state === 'OPEN')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(Date.now() - this.openedAt &lt; this.coolDownMs)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throw new Error('Circuit OPEN — request rejected');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this.state = 'HALF_OPEN';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r = await fn(); this.failures = 0;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this.state = 'CLOSED'; return r;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catch (e)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(++this.failures &gt;= this.threshold) {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this.state = 'OPEN'; this.openedAt = Date.now();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throw e;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6089904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breaker.call(() =&gt; paymentProvider.charge(ride));  // fails fast when unhealthy.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opossum (Node.js), resilience4j (Java), Polly (.NET).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</p:sp>
      <p:pic>
        <p:nvPicPr>
          <p:cNvPr id="4" name="Image 0" descr="/home/claude/ai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Saga — Distributed Transactions Without a Lock</a:t>
            </a:r>
            <a:pPr algn="l" indent="0" marL="0">
              <a:buNone/>
            </a:pPr>
            <a:r>
              <a:rPr lang="en-US" sz="1600" i="1" dirty="0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Richardson, Microservices Patterns, Ch. 4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monolith, booking + payment hold was ONE DB transaction. With Ride and Payment as separate services, no single transaction spans them.</a:t>
            </a:r>
            <a:endParaRPr lang="en-US" sz="155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Intent: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business transaction as a SEQUENCE of local transactions, each with a COMPENSATING action that undoes it if a later step fails.</a:t>
            </a:r>
            <a:endParaRPr lang="en-US" sz="155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Choreography: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coordinator — each service reacts to the previous step’s event and emits its own. Simple, decoupled; implicit flow.</a:t>
            </a:r>
            <a:endParaRPr lang="en-US" sz="155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Orchestration:  </a:t>
            </a:r>
            <a:pPr indent="0" marL="0">
              <a:lnSpc>
                <a:spcPct val="103000"/>
              </a:lnSpc>
              <a:spcAft>
                <a:spcPts val="1100"/>
              </a:spcAft>
              <a:buNone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coordinator drives each step and tracks progress. Explicit and observable; a component you must build and run.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</p:sp>
      <p:pic>
        <p:nvPicPr>
          <p:cNvPr id="4" name="Image 0" descr="/home/claude/ai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Saga: the booking transaction (choreography)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 — each step is a local transaction that emits the next event:</a:t>
            </a:r>
            <a:endParaRPr lang="en-US" sz="1250" dirty="0"/>
          </a:p>
          <a:p>
            <a:pPr lvl="1"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 Service     create ride (PENDING)  → publish RIDE_CREATED</a:t>
            </a:r>
            <a:endParaRPr lang="en-US" sz="1250" dirty="0"/>
          </a:p>
          <a:p>
            <a:pPr lvl="1"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Matching Service reserve driver         → publish DRIVER_RESERVED</a:t>
            </a:r>
            <a:endParaRPr lang="en-US" sz="1250" dirty="0"/>
          </a:p>
          <a:p>
            <a:pPr lvl="1"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 Service  place fare hold         → publish HOLD_PLACED</a:t>
            </a:r>
            <a:endParaRPr lang="en-US" sz="1250" dirty="0"/>
          </a:p>
          <a:p>
            <a:pPr lvl="1" indent="0" marL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 Service     on HOLD_PLACED          → mark ride CONFIRMED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PATH — compensations undo completed steps, in reverse:</a:t>
            </a:r>
            <a:endParaRPr lang="en-US" sz="1250" dirty="0"/>
          </a:p>
          <a:p>
            <a:pPr lvl="1"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 fails    publish HOLD_FAILED</a:t>
            </a:r>
            <a:endParaRPr lang="en-US" sz="1250" dirty="0"/>
          </a:p>
          <a:p>
            <a:pPr lvl="1"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Matching Service on HOLD_FAILED → release reserved driver   (compensation)</a:t>
            </a:r>
            <a:endParaRPr lang="en-US" sz="1250" dirty="0"/>
          </a:p>
          <a:p>
            <a:pPr lvl="1" indent="0" marL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Ride Service     on HOLD_FAILED → mark ride FAILED          (compensation)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step holds a lock on another service; consistency is reached by forward events on success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compensating events on failure. Tools: Kafka, RabbitMQ, AWS EventBridge.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</p:sp>
      <p:pic>
        <p:nvPicPr>
          <p:cNvPr id="4" name="Image 0" descr="/home/claude/ai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 — Netflix: Monolith → 700+ Services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33856"/>
          <a:ext cx="81381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2237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corruption in the monolith causes a 3-day outage. Decision: move to AWS + microservices.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2009–12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extraction; API Gateway introduced; first services deploy independently.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Hystrix (Circuit Breaker) open-sourced; Chaos Monkey kills instances to force resilience.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 complete: 700+ microservices, 100M+ subscribers; Eureka service registry.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</p:sp>
      <p:pic>
        <p:nvPicPr>
          <p:cNvPr id="4" name="Image 0" descr="/home/claude/ai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Transferable Lessons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‘use microservices’ — the real lessons:</a:t>
            </a:r>
            <a:endParaRPr lang="en-US" sz="1250" dirty="0"/>
          </a:p>
          <a:p>
            <a:pPr lvl="1" marL="6858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migrated INCREMENTALLY, one service at a time — never a big-bang rewrite.</a:t>
            </a:r>
            <a:endParaRPr lang="en-US" sz="1250" dirty="0"/>
          </a:p>
          <a:p>
            <a:pPr lvl="1" marL="6858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built resilience FIRST (Circuit Breaker, Chaos Engineering) — failure is normal at scale.</a:t>
            </a:r>
            <a:endParaRPr lang="en-US" sz="1250" dirty="0"/>
          </a:p>
          <a:p>
            <a:pPr lvl="1" marL="685800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moved because they had a REAL scaling problem and the team to support many services.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Uber’s echo: early over-decomposition created its own complexity, prompting a move to coarser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‘domain-oriented’ services. Right-size services to the problem and the team.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UniRide today (~2,000 users, team of four): keep the modular monolith; extract only Matching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if/when peak load demands independent scaling. Apply the IDEAS without the full operational cost.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</p:sp>
      <p:pic>
        <p:nvPicPr>
          <p:cNvPr id="4" name="Image 0" descr="/home/claude/ai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Patterns — What Each Solves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33856"/>
          <a:ext cx="8138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3383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out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Microservices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scaling, deploy, fault isolation.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+ consistency cost; not for day one.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entry point; cross-cutting concerns once.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Becoming a god-object with business logic.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Loose coupling; add consumers freely.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Eventual consistency; harder tracing.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 Breaker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Stops cascading failure from a bad dependency.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 threshold/cool-down; pair with a fallback.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 across services without 2PC.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must design &amp; test every compensation.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t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</p:sp>
      <p:pic>
        <p:nvPicPr>
          <p:cNvPr id="4" name="Image 0" descr="/home/claude/ai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— Week 6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408176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4081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44168" y="1225296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trade simplicity and consistency for independent scaling, deployment, and fault isolation.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468880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2468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344168" y="2286000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modular monolith; extract a service only when a module has a real independent need.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529584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35295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344168" y="3346704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Gateway gives clients one door and centralises auth, routing, rate-limit, and aggregation.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" y="4590288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5902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344168" y="4407408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is Observer across a broker; Circuit Breaker fails fast to stop cascading failure.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2920" y="5650992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" y="5650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344168" y="5468112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Saga keeps a multi-service transaction consistent via local steps and compensating undos.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</p:sp>
      <p:pic>
        <p:nvPicPr>
          <p:cNvPr id="4" name="Image 0" descr="/home/claude/ai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Reading &amp; References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207008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242852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207008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Newman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691640" y="1207008"/>
            <a:ext cx="6949440" cy="1188720"/>
          </a:xfrm>
          <a:prstGeom prst="roundRect">
            <a:avLst>
              <a:gd name="adj" fmla="val 3077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28800" y="1207008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Microservices, 2nd ed.
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Newman (2021)  ·  Ch. 1–3  ·  principles, decomposition, when NOT to use microservices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2920" y="2542032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242852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2542032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691640" y="2542032"/>
            <a:ext cx="6949440" cy="1188720"/>
          </a:xfrm>
          <a:prstGeom prst="roundRect">
            <a:avLst>
              <a:gd name="adj" fmla="val 3077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28800" y="2542032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Patterns
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Richardson (2018)  ·  API Gateway (Ch. 8) &amp; Saga (Ch. 4) with trade-offs and code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02920" y="3877056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242852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3877056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Nygard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691640" y="3877056"/>
            <a:ext cx="6949440" cy="1188720"/>
          </a:xfrm>
          <a:prstGeom prst="roundRect">
            <a:avLst>
              <a:gd name="adj" fmla="val 3077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828800" y="3877056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It!, 2nd ed.
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Nygard (2018)  ·  Circuit Breaker and stability patterns; failing fast under load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2920" y="5212080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242852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" y="5212080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1691640" y="5212080"/>
            <a:ext cx="6949440" cy="1188720"/>
          </a:xfrm>
          <a:prstGeom prst="roundRect">
            <a:avLst>
              <a:gd name="adj" fmla="val 3077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828800" y="521208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— Mid-Term Examination
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Weeks 1–6  ·  revise the per-week comparison tables and the UniRide Evolution Tracker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0"/>
            <a:ext cx="7406640" cy="9326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alibri"/>
              </a:rPr>
              <a:t>UniRide decomposed — a service per capability</a:t>
            </a:r>
          </a:p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the modular monolith splits into independently deployable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9A9CA3"/>
                </a:solidFill>
                <a:latin typeface="Calibri"/>
              </a:rPr>
              <a:t>CSC 4273   ·   Software Architecture &amp; Design Patterns   ·  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9A9CA3"/>
                </a:solidFill>
                <a:latin typeface="Calibri"/>
              </a:rPr>
              <a:t>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804672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was: one modular monolith  →  now: independent services, each owning its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Rides Service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ride lifecycle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182880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Matching Service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driver scoring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Payments Service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charges/refunds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182880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Notification Svc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push / SMS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71600" y="2606040"/>
            <a:ext cx="0" cy="50292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429000" y="2606040"/>
            <a:ext cx="0" cy="50292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486400" y="2606040"/>
            <a:ext cx="0" cy="50292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543800" y="2606040"/>
            <a:ext cx="0" cy="50292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7200" y="3108960"/>
            <a:ext cx="1828800" cy="54864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270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444441"/>
                </a:solidFill>
                <a:latin typeface="Calibri"/>
              </a:rPr>
              <a:t>Rides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3108960"/>
            <a:ext cx="1828800" cy="54864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270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444441"/>
                </a:solidFill>
                <a:latin typeface="Calibri"/>
              </a:rPr>
              <a:t>Match DB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108960"/>
            <a:ext cx="1828800" cy="54864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270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444441"/>
                </a:solidFill>
                <a:latin typeface="Calibri"/>
              </a:rPr>
              <a:t>Pay DB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3108960"/>
            <a:ext cx="1828800" cy="54864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2700">
            <a:solidFill>
              <a:srgbClr val="5F5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444441"/>
                </a:solidFill>
                <a:latin typeface="Calibri"/>
              </a:rPr>
              <a:t>Notif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43400"/>
            <a:ext cx="640080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no shared database — services communicate over the network and scale on their own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0"/>
            <a:ext cx="7406640" cy="9326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alibri"/>
              </a:rPr>
              <a:t>API Gateway — one door, many services</a:t>
            </a:r>
          </a:p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routing, auth and rate-limiting in front of the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9A9CA3"/>
                </a:solidFill>
                <a:latin typeface="Calibri"/>
              </a:rPr>
              <a:t>CSC 4273   ·   Software Architecture &amp; Design Patterns   ·  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9A9CA3"/>
                </a:solidFill>
                <a:latin typeface="Calibri"/>
              </a:rPr>
              <a:t>Week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06040"/>
            <a:ext cx="1783080" cy="82296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085041"/>
                </a:solidFill>
                <a:latin typeface="Calibri"/>
              </a:rPr>
              <a:t>Mobile App</a:t>
            </a:r>
          </a:p>
          <a:p>
            <a:pPr algn="ctr"/>
            <a:r>
              <a:rPr sz="1000" b="0" i="1">
                <a:solidFill>
                  <a:srgbClr val="0F6E56"/>
                </a:solidFill>
                <a:latin typeface="Calibri"/>
              </a:rPr>
              <a:t>one endpoint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468880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085041"/>
                </a:solidFill>
                <a:latin typeface="Calibri"/>
              </a:rPr>
              <a:t>API Gateway</a:t>
            </a:r>
          </a:p>
          <a:p>
            <a:pPr algn="ctr"/>
            <a:r>
              <a:rPr sz="1000" b="0" i="1">
                <a:solidFill>
                  <a:srgbClr val="0F6E56"/>
                </a:solidFill>
                <a:latin typeface="Calibri"/>
              </a:rPr>
              <a:t>auth · routing · rate-limit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40280" y="3017520"/>
            <a:ext cx="411480" cy="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65960" y="3639312"/>
            <a:ext cx="164592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one HTTPS 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554480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Rides Service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5029200" y="1883664"/>
            <a:ext cx="822960" cy="1133856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852160" y="2377440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Matching Service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5029200" y="2706624"/>
            <a:ext cx="822960" cy="310896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852160" y="3200400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Payments Service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0" y="3017520"/>
            <a:ext cx="822960" cy="512064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852160" y="4023360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Notification Svc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0" y="3017520"/>
            <a:ext cx="822960" cy="1335024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63040" y="4937760"/>
            <a:ext cx="621792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the app talks to one endpoint; the gateway forwards to the right service and owns cross-cutting concerns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0"/>
            <a:ext cx="7406640" cy="9326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alibri"/>
              </a:rPr>
              <a:t>Event-Driven — publish once, react many</a:t>
            </a:r>
          </a:p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ride events flow through a broker to independent consumers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9A9CA3"/>
                </a:solidFill>
                <a:latin typeface="Calibri"/>
              </a:rPr>
              <a:t>CSC 4273   ·   Software Architecture &amp; Design Patterns   ·  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9A9CA3"/>
                </a:solidFill>
                <a:latin typeface="Calibri"/>
              </a:rPr>
              <a:t>Week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9748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085041"/>
                </a:solidFill>
                <a:latin typeface="Calibri"/>
              </a:rPr>
              <a:t>Rides Service</a:t>
            </a:r>
          </a:p>
          <a:p>
            <a:pPr algn="ctr"/>
            <a:r>
              <a:rPr sz="1000" b="0" i="1">
                <a:solidFill>
                  <a:srgbClr val="0F6E56"/>
                </a:solidFill>
                <a:latin typeface="Calibri"/>
              </a:rPr>
              <a:t>publishes ride.confirmed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606040"/>
            <a:ext cx="2194560" cy="96012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28575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Event Broker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topic: ride-events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3063240"/>
            <a:ext cx="457200" cy="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97480" y="2331720"/>
            <a:ext cx="109728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publish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691640"/>
            <a:ext cx="2468880" cy="713232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Notification Svc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sends push/SMS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5394960" y="2048256"/>
            <a:ext cx="548640" cy="1014984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43600" y="2651760"/>
            <a:ext cx="2468880" cy="713232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Analytics Svc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counts rides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5394960" y="3008376"/>
            <a:ext cx="548640" cy="54864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43600" y="3611880"/>
            <a:ext cx="2468880" cy="713232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Pricing Svc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surge inputs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94960" y="3063240"/>
            <a:ext cx="548640" cy="905256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69280" y="4526280"/>
            <a:ext cx="146304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subscribe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983480"/>
            <a:ext cx="658368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the producer doesn’t know its consumers — add one without touching it (Observer, at network scale)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0"/>
            <a:ext cx="7406640" cy="9326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alibri"/>
              </a:rPr>
              <a:t>Circuit Breaker — fail fast, recover safely</a:t>
            </a:r>
          </a:p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the three states that protect a failing dependency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9A9CA3"/>
                </a:solidFill>
                <a:latin typeface="Calibri"/>
              </a:rPr>
              <a:t>CSC 4273   ·   Software Architecture &amp; Design Patterns   ·  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9A9CA3"/>
                </a:solidFill>
                <a:latin typeface="Calibri"/>
              </a:rPr>
              <a:t>Week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920240"/>
            <a:ext cx="1920240" cy="868680"/>
          </a:xfrm>
          <a:prstGeom prst="roundRect">
            <a:avLst>
              <a:gd name="adj" fmla="val 8000"/>
            </a:avLst>
          </a:prstGeom>
          <a:solidFill>
            <a:srgbClr val="EAF3DE"/>
          </a:solidFill>
          <a:ln w="28575">
            <a:solidFill>
              <a:srgbClr val="3B6D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27500A"/>
                </a:solidFill>
                <a:latin typeface="Calibri"/>
              </a:rPr>
              <a:t>CLOSED</a:t>
            </a:r>
          </a:p>
          <a:p>
            <a:pPr algn="ctr"/>
            <a:r>
              <a:rPr sz="1000" b="0" i="1">
                <a:solidFill>
                  <a:srgbClr val="3B6D11"/>
                </a:solidFill>
                <a:latin typeface="Calibri"/>
              </a:rPr>
              <a:t>calls pass through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920240"/>
            <a:ext cx="1920240" cy="86868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285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712B13"/>
                </a:solidFill>
                <a:latin typeface="Calibri"/>
              </a:rPr>
              <a:t>OPEN</a:t>
            </a:r>
          </a:p>
          <a:p>
            <a:pPr algn="ctr"/>
            <a:r>
              <a:rPr sz="1000" b="0" i="1">
                <a:solidFill>
                  <a:srgbClr val="993C1D"/>
                </a:solidFill>
                <a:latin typeface="Calibri"/>
              </a:rPr>
              <a:t>fail fast, no calls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3794760"/>
            <a:ext cx="1920240" cy="86868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28575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HALF-OPEN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one trial call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2286000"/>
            <a:ext cx="2926080" cy="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74720" y="1554480"/>
            <a:ext cx="219456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failures reach threshold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5349240" y="2788920"/>
            <a:ext cx="1234440" cy="100584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75120" y="2926080"/>
            <a:ext cx="155448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after cool-down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2468880" y="2788920"/>
            <a:ext cx="1417320" cy="100584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194560" y="3154680"/>
            <a:ext cx="137160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probe ok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212080" y="2788920"/>
            <a:ext cx="1280160" cy="100584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69280" y="3566160"/>
            <a:ext cx="137160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probe fails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074920"/>
            <a:ext cx="640080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when payments fail repeatedly the breaker opens to stop cascading failure, then probes for recovery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0"/>
            <a:ext cx="7406640" cy="9326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alibri"/>
              </a:rPr>
              <a:t>Saga — a distributed transaction, step by step</a:t>
            </a:r>
          </a:p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each local step has a compensating undo (choreography)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9A9CA3"/>
                </a:solidFill>
                <a:latin typeface="Calibri"/>
              </a:rPr>
              <a:t>CSC 4273   ·   Software Architecture &amp; Design Patterns   ·  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800" b="0" i="0">
                <a:solidFill>
                  <a:srgbClr val="9A9CA3"/>
                </a:solidFill>
                <a:latin typeface="Calibri"/>
              </a:rPr>
              <a:t>Week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Create Ride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96596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Reserve Driver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96596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Charge Payment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96596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Confirm Ride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6000" y="2331720"/>
            <a:ext cx="228600" cy="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343400" y="2331720"/>
            <a:ext cx="228600" cy="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00800" y="2331720"/>
            <a:ext cx="228600" cy="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3291840"/>
            <a:ext cx="1828800" cy="64008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337560"/>
            <a:ext cx="1609344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6A6C72"/>
                </a:solidFill>
                <a:latin typeface="Calibri"/>
              </a:rPr>
              <a:t>Cancel Ride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71600" y="2697480"/>
            <a:ext cx="0" cy="594360"/>
          </a:xfrm>
          <a:prstGeom prst="line">
            <a:avLst/>
          </a:prstGeom>
          <a:ln w="15875">
            <a:solidFill>
              <a:srgbClr val="5A5C6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514600" y="3291840"/>
            <a:ext cx="1828800" cy="64008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4328" y="3337560"/>
            <a:ext cx="1609344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6A6C72"/>
                </a:solidFill>
                <a:latin typeface="Calibri"/>
              </a:rPr>
              <a:t>Release Driver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29000" y="2697480"/>
            <a:ext cx="0" cy="594360"/>
          </a:xfrm>
          <a:prstGeom prst="line">
            <a:avLst/>
          </a:prstGeom>
          <a:ln w="15875">
            <a:solidFill>
              <a:srgbClr val="5A5C6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0" y="3291840"/>
            <a:ext cx="1828800" cy="64008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3337560"/>
            <a:ext cx="1609344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6A6C72"/>
                </a:solidFill>
                <a:latin typeface="Calibri"/>
              </a:rPr>
              <a:t>Refund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0" y="2697480"/>
            <a:ext cx="0" cy="594360"/>
          </a:xfrm>
          <a:prstGeom prst="line">
            <a:avLst/>
          </a:prstGeom>
          <a:ln w="15875">
            <a:solidFill>
              <a:srgbClr val="5A5C6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75120" y="3429000"/>
            <a:ext cx="182880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← compensate in reverse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617720"/>
            <a:ext cx="6766560" cy="23774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if any step fails, run the compensations backward — consistency without a distributed lock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AIUB — Dept. of Computer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Software Architecture &amp; Design Patterns</dc:subject>
  <dc:creator>MD. Al-Amin</dc:creator>
  <cp:lastModifiedBy>MD. Al-Amin</cp:lastModifiedBy>
  <cp:revision>1</cp:revision>
  <dcterms:created xsi:type="dcterms:W3CDTF">2026-06-11T11:40:34Z</dcterms:created>
  <dcterms:modified xsi:type="dcterms:W3CDTF">2026-06-11T11:40:34Z</dcterms:modified>
</cp:coreProperties>
</file>