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2" r:id="rId11"/>
    <p:sldId id="265" r:id="rId12"/>
    <p:sldId id="266" r:id="rId13"/>
    <p:sldId id="267" r:id="rId14"/>
    <p:sldId id="283" r:id="rId15"/>
    <p:sldId id="268" r:id="rId16"/>
    <p:sldId id="269" r:id="rId17"/>
    <p:sldId id="270" r:id="rId18"/>
    <p:sldId id="271" r:id="rId19"/>
    <p:sldId id="272" r:id="rId20"/>
    <p:sldId id="284" r:id="rId21"/>
    <p:sldId id="273" r:id="rId22"/>
    <p:sldId id="274" r:id="rId23"/>
    <p:sldId id="285" r:id="rId24"/>
    <p:sldId id="275" r:id="rId25"/>
    <p:sldId id="276" r:id="rId26"/>
    <p:sldId id="28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5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11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3671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202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5486400" cy="1417320"/>
          </a:xfrm>
          <a:prstGeom prst="rect">
            <a:avLst/>
          </a:prstGeom>
          <a:solidFill>
            <a:srgbClr val="3C3F4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56032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01168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Design Patterns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CSC 4273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1417320"/>
            <a:ext cx="9144000" cy="64008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874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Dept. of Computer Science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of Science and Technology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28803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Title: SOFTWARE ARCHITECTURE &amp; DESIGN PATTERN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92040"/>
          <a:ext cx="8138160" cy="76809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 No: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No: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 25-26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MD. Al-Amin &lt;alamin@aiub.edu&gt;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Outline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Why structural patterns? Composition over inheritance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Adapter — make incompatible interfaces work together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Facade — one door to a complex subsystem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Proxy — control access to an object (cache, auth, lazy)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Decorator — stack behaviour at run time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Composite — treat parts and wholes uniformly; comparison &amp; trade-offs</a:t>
            </a:r>
            <a:endParaRPr lang="en-US" sz="18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Week-4 &amp; Part-1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 1 LEARNING GOALS — By the end of Part 1, you will be able to: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Explain what structural patterns are and why composition beats inheritance.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Name all five structural patterns and state the intent of each in one sentence.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Implement the Adapter pattern to use an incompatible class without modifying it.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Implement the Facade pattern to hide subsystem complexity behind one entry point.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Apply Adapter and Facade to UniRide with concrete TypeScript code.</a:t>
            </a:r>
            <a:endParaRPr lang="en-US" sz="15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PROJECT — UniRide: Week 4 Context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Weeks 1–3 gave UniRide its structure (layers, MVC, modular monolith) and its creation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mechanisms (Singleton pool, Factory notifications, Abstract Factory matching, Builder).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This week is about COMPOSITION — how existing objects are assembled into larger structures: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Adapter   — wrap a legacy map / bKash SDK whose interface does not match ours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Facade    — hide Auth + Matching + Payment + Notification behind one RideBookingFacade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Proxy     — a CachingDriverProxy that serves locations from Redis before PostgreSQL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Decorator — a logging / auth / rate-limit middleware stack on the Express router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Composite — a fare-breakdown tree (base + surge + tolls + discounts) treated uniformly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Structural patterns are where UniRide gains its middleware, caching layer, and clean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third-party integration — without rewriting code it does not own.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 over Inheritance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Structural patterns: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Answer ‘how do I COMPOSE objects into larger structures while keeping them flexible?’ The recurring tool is composition — holding a reference — not inheritance.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inheritance trap: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Inheritance couples a subclass to its parent’s implementation (the fragile base class); a class can inherit from only ONE parent, so behaviours cannot be mixed.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Why composition wins: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One object can wrap or hold many others, swap them at run time, and combine behaviours freely. Decided at run time, not compile time.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GoF’s first principle: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“Favour object composition over class inheritance.” Four of today’s five patterns are a wrapper holding the thing it adapts, guards, enhances, or groups.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The Five Structural Patterns</a:t>
            </a:r>
            <a:endParaRPr lang="en-US" sz="25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Adapter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9224" y="1737360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Convert one interface into another the client expects. Use when a class you cannot change has the wrong interface. (travel plug)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00984" y="1207008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392424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2F6DB5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92424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Facade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447288" y="1737360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Provide one simple entry point to a complex subsystem. Use when many steps must be coordinated for one task. (hotel concierge)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099048" y="1207008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90488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190488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Proxy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245352" y="1737360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Stand in for another object to control access. Use for caching, lazy loading, auth, or rate limiting. (bodyguard)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02920" y="3931920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94360" y="4023360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7A4FA3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94360" y="40233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Decorator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49224" y="4462272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Add responsibilities dynamically by wrapping. Use for optional, stackable behaviours at run time. (coffee toppings)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300984" y="3931920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392424" y="4023360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392424" y="40233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Composite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447288" y="4462272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Treat individual objects and groups uniformly. Use for part–whole tree structures. (a folder of files or folders)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099048" y="3931920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190488" y="4023360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B8860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190488" y="40233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Common thread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245352" y="4462272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Four of the five are a wrapper that holds a reference — differing only in INTENT: adapt, guard, enhance, or group.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Connections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917171"/>
              </p:ext>
            </p:extLst>
          </p:nvPr>
        </p:nvGraphicFramePr>
        <p:xfrm>
          <a:off x="502920" y="1133856"/>
          <a:ext cx="8138160" cy="26212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6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SOLID principles it embodies</a:t>
                      </a:r>
                      <a:endParaRPr lang="en-US" sz="16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Adapter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OCP: add a new adapter without changing client code.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DIP: the client depends on the target interface, not the adaptee.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Facade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SRP: the facade owns coordination; subsystems keep their own responsibilities.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ISP: clients see a narrow interface.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Proxy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OCP / LSP: the proxy implements the same interface as the real subject, so it substitutes seamlessly.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Decorator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OCP: stack new behaviour without modifying the component.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SRP: each decorator adds exactly one concern.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Composite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LSP: leaves and composites share one interface, so clients treat them identically.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 — Make Incompatible Interfaces Work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</a:p>
          <a:p>
            <a:pPr marL="0" indent="0" algn="l">
              <a:buNone/>
            </a:pPr>
            <a:r>
              <a:rPr lang="en-US" sz="1600" i="1" dirty="0" err="1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GoF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Ch. 4, p. 139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Intent: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Convert the interface of a class into another the client expects, so classes with incompatible interfaces can work together.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Use when: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You must use an existing class (a third-party SDK, a legacy module) whose interface does not match — and you cannot or should not modify it.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Participants: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TARGET (the expected interface), CLIENT (uses Target), ADAPTEE (the incompatible class), ADAPTER (implements Target, holds an Adaptee, translates).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Key rule: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Adapter implements the Target and DELEGATES to the Adaptee, converting arguments and return values. The client never sees the Adaptee.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 — The Mismatch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3383280"/>
          </a:xfrm>
          <a:prstGeom prst="roundRect">
            <a:avLst>
              <a:gd name="adj" fmla="val 1622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Legacy SDK — we cannot change it; wants strings, returns its own shape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LegacyMapSDK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calculateRoute(origin: string, destination: string): LegacyRouteData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... */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But UniRide works in LatLng objects and expects a Route domain type: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RouteService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getRoute(from: LatLng, to: LatLng): Promise&lt;Route&gt;;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4626864"/>
            <a:ext cx="8138160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edit the SDK, and we do not want LatLng↔string conversion scattered across every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service.</a:t>
            </a:r>
            <a:r>
              <a:rPr lang="en-US" sz="12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need ONE place that translates between the two worlds.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Adapter — make incompatible interfaces work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wrap the legacy map SDK behind our own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270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444441"/>
                </a:solidFill>
                <a:latin typeface="Calibri"/>
              </a:rPr>
              <a:t>Booking flow</a:t>
            </a:r>
          </a:p>
          <a:p>
            <a:pPr algn="ctr"/>
            <a:r>
              <a:rPr sz="1000" b="0" i="1">
                <a:solidFill>
                  <a:srgbClr val="5F5E5A"/>
                </a:solidFill>
                <a:latin typeface="Calibri"/>
              </a:rPr>
              <a:t>calls geocode()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55448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2857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GeocodingPort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geocode(label) → Location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74320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LegacyMapsAdapter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implements GeocodingPort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74320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712B13"/>
                </a:solidFill>
                <a:latin typeface="Calibri"/>
              </a:rPr>
              <a:t>LegacyMapsSdk</a:t>
            </a:r>
          </a:p>
          <a:p>
            <a:pPr algn="ctr"/>
            <a:r>
              <a:rPr sz="1000" b="0" i="1">
                <a:solidFill>
                  <a:srgbClr val="993C1D"/>
                </a:solidFill>
                <a:latin typeface="Calibri"/>
              </a:rPr>
              <a:t>pinpoint(q) → XY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651760" y="1938528"/>
            <a:ext cx="457200" cy="118872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40280" y="2240280"/>
            <a:ext cx="109728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uses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434840" y="2331720"/>
            <a:ext cx="0" cy="41148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0" y="2395728"/>
            <a:ext cx="146304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implements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60720" y="3127248"/>
            <a:ext cx="64008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0" y="3346704"/>
            <a:ext cx="210312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wraps + translates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846320"/>
            <a:ext cx="58521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the client codes to GeocodingPort — the adapter speaks the SDK's odd dialect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Adapter: wrap the legacy map SDK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206240"/>
          </a:xfrm>
          <a:prstGeom prst="roundRect">
            <a:avLst>
              <a:gd name="adj" fmla="val 1304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RouteService {                       // TARGET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getRoute(from: LatLng, to: LatLng): Promise&lt;Route&gt;;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MapSDKAdapter implements RouteService {  // ADAPTER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constructor(private sdk: LegacyMapSDK) {}     // holds the ADAPTEE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getRoute(from: LatLng, to: LatLng): Promise&lt;Route&gt;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o = `${from.lat},${from.lng}`;        // convert inputs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 = `${to.lat},${to.lng}`;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raw = this.sdk.calculateRoute(o, d);  // delegate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Route(raw.distanceMeters, raw.etaSeconds, raw.polyline);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routeService: RouteService = new MapSDKAdapter(new LegacyMapSDK());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449824"/>
            <a:ext cx="813816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LatLng↔string conversion lives in ONE class. Switching to Google Maps = a new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GoogleMapsAdapter; RideService and MatchingEngine never change (OCP + DIP).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Facade — One Door to a Subsystem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GoF Ch. 4, p. 185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Intent: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Provide a unified, higher-level interface to a set of subsystem interfaces, making the subsystem easier to use.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Use when: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single user task requires coordinating many objects/steps, and clients should depend on one simple call instead of the whole subsystem.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Participants: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SUBSYSTEM CLASSES (Auth, Matching, Payment, Ride repo, Notification) that keep their own responsibilities; and a FACADE that knows the correct sequence.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Not a takeover: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Facade does not hide the subsystem entirely — advanced callers may still use subsystems directly. It offers a convenient default path for the common case.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Facade — The Tangled Client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Without a facade, the controller itself must, in order: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verify the JWT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check the student’s account standing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validate the pickup / destination are in the service area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run the matching engine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create the ride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place a payment hold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send notifications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… calling five subsystems in the right order and handling each failure. EVERY endpoint</a:t>
            </a:r>
            <a:r>
              <a:rPr lang="en-US" sz="1400" dirty="0">
                <a:latin typeface="Cambria" panose="02040503050406030204" pitchFamily="18" charset="0"/>
              </a:rPr>
              <a:t> </a:t>
            </a:r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that books a ride repeats this. The knowledge of ‘how to book’ is smeared across</a:t>
            </a:r>
            <a:r>
              <a:rPr lang="en-US" sz="1400" dirty="0">
                <a:latin typeface="Cambria" panose="02040503050406030204" pitchFamily="18" charset="0"/>
              </a:rPr>
              <a:t> </a:t>
            </a:r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controllers — impossible to reuse from a CLI, a scheduled job, or a test.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Facade — one door to a subsystem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RideBookingFacade hides the moving parts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270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444441"/>
                </a:solidFill>
                <a:latin typeface="Calibri"/>
              </a:rPr>
              <a:t>Controller</a:t>
            </a:r>
          </a:p>
          <a:p>
            <a:pPr algn="ctr"/>
            <a:r>
              <a:rPr sz="1000" b="0" i="1">
                <a:solidFill>
                  <a:srgbClr val="5F5E5A"/>
                </a:solidFill>
                <a:latin typeface="Calibri"/>
              </a:rPr>
              <a:t>book(request)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83464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RideBookingFacade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one simple book()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371600"/>
            <a:ext cx="3108960" cy="402336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87568" y="1417320"/>
            <a:ext cx="2889504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1">
                <a:solidFill>
                  <a:srgbClr val="6A6C72"/>
                </a:solidFill>
                <a:latin typeface="Calibri"/>
              </a:rPr>
              <a:t>Booking subsystem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874519"/>
            <a:ext cx="2651760" cy="64008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MatchingEngine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2651760"/>
            <a:ext cx="2651760" cy="64008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FarePolicy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3429000"/>
            <a:ext cx="2651760" cy="64008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PaymentService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4206240"/>
            <a:ext cx="2651760" cy="64008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Notifications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3246120"/>
            <a:ext cx="36576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86000" y="2542032"/>
            <a:ext cx="118872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book()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03520" y="3246120"/>
            <a:ext cx="27432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0" y="2578608"/>
            <a:ext cx="18288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orchestrates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715000"/>
            <a:ext cx="58521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the client makes one call; the facade coordinates four collaborators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Facade: RideBookingFacade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480560"/>
          </a:xfrm>
          <a:prstGeom prst="roundRect">
            <a:avLst>
              <a:gd name="adj" fmla="val 1224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RideBookingFacade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area: ServiceAreaValidator, private matching: MatchingEngine,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rides: RideRepository,     private payments: PaymentService,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notify: NotificationService,) {}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bookRide(studentId, pickup, dest): Promise&lt;Ride&gt;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this.area.assertInsideServiceArea(pickup, dest);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driver = await this.matching.findBestDriver(pickup);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(!driver) throw new NoDriverAvailableError();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ride = await this.rides.save(new Ride(studentId, driver.id, pickup, dest));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this.payments.placeHold(ride);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this.notify.notifyDriver(driver, ride);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ride;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724144"/>
            <a:ext cx="81381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shrinks to one line: facade.bookRide(...). The booking policy is defined ONCE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reused by a controller, a scheduled-ride job, or a test — with no duplication or drift.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Facade vs. Fat Controller</a:t>
            </a:r>
            <a:endParaRPr lang="en-US" sz="25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B03A36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FAT CONTROLLER (anti-pattern)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02920" y="1755648"/>
            <a:ext cx="3931920" cy="4645152"/>
          </a:xfrm>
          <a:prstGeom prst="roundRect">
            <a:avLst>
              <a:gd name="adj" fmla="val 930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0936" y="1865376"/>
            <a:ext cx="3675888" cy="441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Mixes HTTP concerns (req/res) with business steps.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Contains SQL and direct SDK calls.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Cannot be reused outside an HTTP request.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Duplicated in every endpoint that does the task.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09160" y="1207008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2E7D46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09160" y="12070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FACADE (the fix)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09160" y="1755648"/>
            <a:ext cx="3931920" cy="4645152"/>
          </a:xfrm>
          <a:prstGeom prst="roundRect">
            <a:avLst>
              <a:gd name="adj" fmla="val 930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837176" y="1865376"/>
            <a:ext cx="3675888" cy="441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Contains only business orchestration — no req/res, no SQL.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Delegates each step to a subsystem that owns it.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Reusable from a controller, job, or test.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Defines the policy once — a single source of truth.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Week-4 &amp; Part-2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 2 LEARNING GOALS — By the end of Part 2, you will be able to: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Implement the Proxy pattern to add caching / access control transparently.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Implement the Decorator pattern to stack optional behaviours at run time.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Implement the Composite pattern to treat parts and wholes uniformly in a tree.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Compare all five structural patterns and choose the right one for a given problem.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Add the structural-pattern decisions to the UniRide Evolution Tracker.</a:t>
            </a:r>
            <a:endParaRPr lang="en-US" sz="15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Proxy — Control Access to an Object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GoF Ch. 4, p. 207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Intent: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Provide a surrogate or placeholder for another object to control access to it — caching, lazy init, access control, logging, or rate limiting.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Same interface: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Proxy implements the SAME interface as the real subject, so it substitutes invisibly — unlike Adapter, which changes the interface.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Four flavours: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Virtual (lazy creation), Cache (stored result first), Protection (permission check), Remote (stands in for an object on another server).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UniRide use: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cache proxy serves driver locations from Redis before querying PostgreSQL — a performance win with no change to MatchingEngine.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Shape, Different Intent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All three are a wrapper that holds a reference — the INTENT is what differs: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Changes the interface (incompatible → compatible).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Keeps the SAME interface; controls access (cache, auth, lazy).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7A4FA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Decorator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Keeps the SAME interface; ADDS behaviour, and is stackable.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8860B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Exam tip: same interface + guards/delays access → Proxy. Adds features you </a:t>
            </a:r>
            <a:r>
              <a:rPr lang="en-US" sz="1400" b="1">
                <a:solidFill>
                  <a:srgbClr val="B8860B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can stack</a:t>
            </a:r>
            <a:r>
              <a:rPr lang="en-US" sz="1400" dirty="0">
                <a:latin typeface="Cambria" panose="02040503050406030204" pitchFamily="18" charset="0"/>
              </a:rPr>
              <a:t> </a:t>
            </a:r>
            <a:r>
              <a:rPr lang="en-US" sz="1400" b="1">
                <a:solidFill>
                  <a:srgbClr val="B8860B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b="1" dirty="0">
                <a:solidFill>
                  <a:srgbClr val="B8860B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Decorator. Changes the interface → Adapter.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Proxy — control access to an object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CachingDriverProxy answers repeat lookups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2011680" cy="77724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270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444441"/>
                </a:solidFill>
                <a:latin typeface="Calibri"/>
              </a:rPr>
              <a:t>MatchingEngine</a:t>
            </a:r>
          </a:p>
          <a:p>
            <a:pPr algn="ctr"/>
            <a:r>
              <a:rPr sz="1000" b="0" i="1">
                <a:solidFill>
                  <a:srgbClr val="5F5E5A"/>
                </a:solidFill>
                <a:latin typeface="Calibri"/>
              </a:rPr>
              <a:t>asks for drivers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55448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2857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DriverRepository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findAvailableNear()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74320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CachingDriverProxy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same interface + cache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74320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712B13"/>
                </a:solidFill>
                <a:latin typeface="Calibri"/>
              </a:rPr>
              <a:t>InMemoryDriverRepository</a:t>
            </a:r>
          </a:p>
          <a:p>
            <a:pPr algn="ctr"/>
            <a:r>
              <a:rPr sz="1000" b="0" i="1">
                <a:solidFill>
                  <a:srgbClr val="993C1D"/>
                </a:solidFill>
                <a:latin typeface="Calibri"/>
              </a:rPr>
              <a:t>the real lookup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3127248"/>
            <a:ext cx="18288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94560" y="2377440"/>
            <a:ext cx="109728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calls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977639" y="2331720"/>
            <a:ext cx="0" cy="41148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14800" y="2395728"/>
            <a:ext cx="146304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implements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5212080" y="2331720"/>
            <a:ext cx="2011680" cy="41148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09360" y="2395728"/>
            <a:ext cx="164592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also implements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12080" y="3127248"/>
            <a:ext cx="64008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74920" y="3346704"/>
            <a:ext cx="146304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miss → forwards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46320"/>
            <a:ext cx="58521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same interface as the real repo — serves cached results, only hits it on a miss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Proxy: CachingDriverProxy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297680"/>
          </a:xfrm>
          <a:prstGeom prst="roundRect">
            <a:avLst>
              <a:gd name="adj" fmla="val 1277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DriverLocationSource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getLocation(driverId: string): Promise&lt;LatLng&gt;;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CachingDriverProxy implements DriverLocationSource {  // same interface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constructor(private real: DriverLocationSource, private redis: Redis) {}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getLocation(driverId: string): Promise&lt;LatLng&gt;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hit = await this.redis.get(`loc:${driverId}`);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(hit) return JSON.parse(hit);                 // cache hit (&lt;1ms)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loc = await this.real.getLocation(driverId); // miss → real source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this.redis.set(`loc:${driverId}`, JSON.stringify(loc), 'EX', 5);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loc;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source = new CachingDriverProxy(new PgDriverSource(pool), redis);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541264"/>
            <a:ext cx="81381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5,000 concurrent users, reading every location from PostgreSQL would overwhelm the DB.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proxy absorbs reads in Redis — MatchingEngine is unchanged and unaware.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Decorator — Stack Behaviour at Run Time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GoF Ch. 4, p. 175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Intent:  </a:t>
            </a: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Attach additional responsibilities to an object dynamically — a flexible alternative to subclassing for extending functionality.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Subclass explosion:  </a:t>
            </a: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Optional, combinable behaviours (logging, auth, rate-limit, cache) would need 2ⁿ subclasses. Decorator uses one wrapper per concern, combined freely.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Participants:  </a:t>
            </a: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COMPONENT (shared interface), CONCRETE COMPONENT (the base object), DECORATOR (implements Component AND holds one, adding behaviour around it).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You already use it:  </a:t>
            </a: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Express middleware — app.use(logger); app.use(auth) — is Decorator with a list instead of nesting.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Decorator — stack behaviour at run time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wrap a channel with retry, then 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417320"/>
            <a:ext cx="4389120" cy="356616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14600" y="1517904"/>
            <a:ext cx="402336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085041"/>
                </a:solidFill>
                <a:latin typeface="Calibri"/>
              </a:rPr>
              <a:t>RetryingChannel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240280"/>
            <a:ext cx="3017520" cy="192024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905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2331720"/>
            <a:ext cx="27432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3C3489"/>
                </a:solidFill>
                <a:latin typeface="Calibri"/>
              </a:rPr>
              <a:t>LoggingChannel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30632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EAF3DE"/>
          </a:solidFill>
          <a:ln w="12700">
            <a:solidFill>
              <a:srgbClr val="3B6D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27500A"/>
                </a:solidFill>
                <a:latin typeface="Calibri"/>
              </a:rPr>
              <a:t>PushChannel</a:t>
            </a:r>
          </a:p>
          <a:p>
            <a:pPr algn="ctr"/>
            <a:r>
              <a:rPr sz="1000" b="0" i="1">
                <a:solidFill>
                  <a:srgbClr val="3B6D11"/>
                </a:solidFill>
                <a:latin typeface="Calibri"/>
              </a:rPr>
              <a:t>core send()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3520440"/>
            <a:ext cx="155448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2834640"/>
            <a:ext cx="164592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notify()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257800"/>
            <a:ext cx="621792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every layer is a NotificationChannel — add retry/logging by wrapping, never editing the core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Decorator: middleware stack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572000"/>
          </a:xfrm>
          <a:prstGeom prst="roundRect">
            <a:avLst>
              <a:gd name="adj" fmla="val 1200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Handler { handle(req: Req): Promise&lt;Res&gt;; }       // COMPONENT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RideHandler implements Handler { /* real work */ }    // CONCRETE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 HandlerDecorator implements Handler {        // DECORATOR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constructor(protected inner: Handler) {}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abstract handle(req: Req): Promise&lt;Res&gt;;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LoggingHandler extends HandlerDecorator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handle(req: Req)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console.log('→', req.path);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this.inner.handle(req);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console.log('←', res.status); return res;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compose any combination, any order: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LoggingHandler(new AuthHandler(new RateLimitHandler(new RideHandler())));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815584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caching on for one route by adding new CacheHandler(...) — no existing handler changes.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— Parts and Wholes, Uniformly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GoF Ch. 4, p. 163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Intent: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Compose objects into tree structures for part–whole hierarchies, and let clients treat individual objects and groups uniformly.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Use when: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You have a recursive part–whole structure — a file system, a UI tree, a nested menu, an itemised total — and want one interface for leaves and groups.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Participants: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COMPONENT (shared interface), LEAF (a single element, no children), COMPOSITE (holds child Components and aggregates them, recursively).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payoff: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Client code calls one method — amount() — and never checks ‘is this a leaf or a group?’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Composite — parts and wholes, uniformly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a fare-breakdown tree that totals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Trip total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FareGroup · amount()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920240" cy="73152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Base fare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40.00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926080"/>
            <a:ext cx="2926080" cy="73152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Distance block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FareGroup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926080"/>
            <a:ext cx="1920240" cy="73152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712B13"/>
                </a:solidFill>
                <a:latin typeface="Calibri"/>
              </a:rPr>
              <a:t>Promo discount</a:t>
            </a:r>
          </a:p>
          <a:p>
            <a:pPr algn="ctr"/>
            <a:r>
              <a:rPr sz="1000" b="0" i="1">
                <a:solidFill>
                  <a:srgbClr val="993C1D"/>
                </a:solidFill>
                <a:latin typeface="Calibri"/>
              </a:rPr>
              <a:t>−10.00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34340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Distance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98.00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34340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Surge ×1.2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+19.60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691640" y="2240280"/>
            <a:ext cx="2514600" cy="68580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2240280"/>
            <a:ext cx="0" cy="68580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37760" y="2240280"/>
            <a:ext cx="2514600" cy="68580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611880" y="3657600"/>
            <a:ext cx="228600" cy="68580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03520" y="3657600"/>
            <a:ext cx="228600" cy="68580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28800" y="5532120"/>
            <a:ext cx="54864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leaf line-items and groups share one interface — amount() just recurses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Composite: fare-breakdown tree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663440"/>
          </a:xfrm>
          <a:prstGeom prst="roundRect">
            <a:avLst>
              <a:gd name="adj" fmla="val 1176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FareItem { label: string; amount(): number; }     // COMPONENT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FlatFare implements FareItem {                         // LEAF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constructor(public label: string, private bdt: number) {}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amount() { return this.bdt;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FareGroup implements FareItem {                        // COMPOSITE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items: FareItem[] = [];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constructor(public label: string) {}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add(i: FareItem) { this.items.push(i); return this;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amount() { return this.items.reduce((s, i) =&gt; s + i.amount(), 0);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total = new FareGroup('Trip total')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.add(new FlatFare('Base fare', 80))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.add(new FareGroup('Surcharges').add(new FlatFare('Surge', 30)))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.add(new FlatFare('Promo discount', -20));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total.amount();   // recursive sum — one call, no leaf-vs-group checks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907024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receipt screen calls amount() once; a new charge type is one new leaf class.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Patterns — Comparison &amp; Trade-offs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670507"/>
              </p:ext>
            </p:extLst>
          </p:nvPr>
        </p:nvGraphicFramePr>
        <p:xfrm>
          <a:off x="502920" y="1133856"/>
          <a:ext cx="8229098" cy="1737360"/>
        </p:xfrm>
        <a:graphic>
          <a:graphicData uri="http://schemas.openxmlformats.org/drawingml/2006/table">
            <a:tbl>
              <a:tblPr/>
              <a:tblGrid>
                <a:gridCol w="1313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0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8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6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Changes interface?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Adds behaviour?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Stackable?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UniRide use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Adapter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Legacy map / bKash SDK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Facade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Simplifies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Orchestrates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RideBookingFacade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Proxy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No (same)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Controls access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Rarely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CachingDriverProxy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Decorator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No (same)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Middleware stack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Composite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No (uniform)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Aggregates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Tree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Fare-breakdown tree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Drill — Name the Pattern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weather SDK returns XML; we need JSON objects.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 Adapter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Checkout must call auth, inventory, payment, and shipping in order.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F6DB5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 Facade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We want to serve product data from cache before the database.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 Proxy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Some requests need gzip, some gzip + encryption, some neither.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7A4FA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 Decorator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An org chart where a manager contains employees or sub-managers.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50808E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 Composite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Trade-off: every pattern adds indirection. Use one only when the flexibility is real —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fixed interface, a complex flow, a cross-cutting concern, or a genuine tree.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Week 4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408176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4081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44168" y="1225296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patterns compose objects into larger structures — favour composition over inheritance.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2468880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344168" y="2286000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converts an incompatible interface; Facade hides a multi-step subsystem behind one call.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352958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35295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344168" y="3346704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keeps the same interface and controls access (cache, auth, lazy) — transparent to clients.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590288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4590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344168" y="4407408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 adds stackable behaviour by wrapping; it is the idea behind Express middleware.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650992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5650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344168" y="5468112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treats leaves and groups uniformly through one interface over a tree.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Reading &amp; References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GoF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691640" y="1207008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28800" y="1207008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Patterns: Elements of Reusable OO Software
</a:t>
            </a: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Gamma, Helm, Johnson, Vlissides (1994)  ·  Ch. 4, pp. 139–217  ·  all structural patterns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2542032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" y="2542032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HFDP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691640" y="2542032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0" y="2542032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First Design Patterns, 2nd ed.
</a:t>
            </a: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Freeman &amp; Robson (2020)  ·  Ch. 3  ·  Decorator (coffee-shop) + Adapter &amp; Facade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02920" y="3877056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02920" y="3877056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R.Guru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691640" y="3877056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828800" y="3877056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Refactoring.Guru — Design Patterns
</a:t>
            </a: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refactoring.guru/design-patterns (free)  ·  diagrams &amp; code for all five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212080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5212080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Martin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691640" y="5212080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828800" y="521208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
</a:t>
            </a: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C. Martin (2017)  ·  boundaries &amp; indirection — when a wrapper earns its keep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3719</Words>
  <Application>Microsoft Macintosh PowerPoint</Application>
  <PresentationFormat>On-screen Show (4:3)</PresentationFormat>
  <Paragraphs>450</Paragraphs>
  <Slides>31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AIUB — Dept. of 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Software Architecture &amp; Design Patterns</dc:subject>
  <dc:creator>MD. Al-Amin</dc:creator>
  <cp:lastModifiedBy>Md Al Amin</cp:lastModifiedBy>
  <cp:revision>42</cp:revision>
  <dcterms:created xsi:type="dcterms:W3CDTF">2026-06-11T11:40:34Z</dcterms:created>
  <dcterms:modified xsi:type="dcterms:W3CDTF">2026-06-29T19:53:31Z</dcterms:modified>
</cp:coreProperties>
</file>